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projet de module Web Scraping : JumiaPrix CI, un comparateur de prix e-commerce pour la Côte d'Ivoire. Le projet agrège 3 sources marchandes en ligne et expose les données via une API, un site web et un chatbot. Durée de présentation : environ 12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de ma présentation. Je commencerai par le problème que j'ai voulu résoudre, puis je vous montrerai concrètement ce que fait le projet. Ensuite je détaillerai l'architecture technique, la base de données, les défis rencontrés, et je terminerai par les chiffres-clés.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constat est simple : un acheteur ivoirien qui veut comparer les prix doit aller sur Jumia, DjokStore, CoinAfrique, et parfois d'autres. Il perd du temps, n'a aucun historique de prix pour savoir si c'est vraiment une bonne affaire, et ne peut pas être alerté automatiquement. L'idée du projet est donc de créer un service qui fait tout ça à sa place.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objectifs concrets, que l'on peut résumer par 6 verbes : scraper, nettoyer, stocker, exposer, alerter, monitorer. C'est un pipeline complet de la donnée brute jusqu'à l'utilisateur final. Je détaillerai chaque brique dans les slides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utilisateur, le projet propose 8 pages. La boutique permet de filtrer le catalogue, la page Comparer met les 3 sources côte à côte, Historique affiche un graphique d'évolution du prix, Mon Espace gère les favoris et les alertes. Et un chatbot IA répond aux questions en langage naturel. Tout ça est protégé par une authentification JWT.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organisée en 4 couches : les sources que l'on scrape, la couche de collecte et traitement avec Scrapy et Celery, le stockage et l'API avec PostgreSQL, Redis et Flask, et enfin la couche d'observabilité avec Prometheus, Grafana et le chatbot. Au total 12 services Docker, orchestrés par Docker Compose. Un seul 'docker compose up' démarre tout l'environnement.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utilise exclusivement des outils open-source éprouvés en production. Python 3.12 comme langage principal. Scrapy pour le scraping car c'est un framework robuste avec gestion native des délais et des retries. PostgreSQL pour sa fiabilité transactionnelle. Flask pour sa simplicité et sa documentation. Celery pour l'asynchrone. Airflow pour les pipelines complexes. Et pour l'IA, Llama 3.3 70B via l'API Groq, qui a un très bon rapport qualité / latence.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pipeline quotidien orchestré par Airflow. Les 3 spiders peuvent tourner en parallèle, ils se rejoignent au nettoyage puis à l'insertion en base. Ensuite on détecte les baisses de prix, ce qui déclenche deux tâches en parallèle : l'envoi des alertes par email et le matching cross-source, qui rapproche un même produit vendu par plusieurs sites grâce à du fuzzy matching. Airflow gère tout ce qui a des dépendances. Celery Beat, lui, ne garde qu'une seule tâche : une vérification très fréquente, toutes les 5 minutes, des chutes majeures. C'est une séparation claire des responsabilités.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de la base contient 8 tables organisées en 3 groupes. En vert, les tables utilisateur : users, user_preferences, user_favorites, price_alerts. En bleu, les tables de données : products au centre comme table pivot, product_matches pour le matching cross-source. En orange, la table price_history, la plus volumineuse avec plus de 13 600 lignes d'historique de prix. En gris, scrape_logs, isolée, qui journalise chaque exécution. Les relations avec clés étrangères sont en CASCADE pour garantir la cohérence. J'ai aussi créé 2 vues SQL, dont une avec un JOIN LATERAL pour récupérer efficacement le dernier prix de chaque produit.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principal défi technique était Cloudflare Turnstile sur Jumia. Scrapy seul reçoit un 403 immédiat. J'ai intégré FlareSolverr, un proxy basé sur Chromium headless qui résout le challenge JavaScript. Le spider envoie sa requête à FlareSolverr qui retourne le HTML une fois le token obtenu. En plus, j'ai activé 2 retries dans Celery. La preuve que ça marche : sur un run récent en production, j'ai eu 3 erreurs consécutives à 8h11, 8h12, 8h13, puis un succès à 8h14 avec 780 items. Le système s'auto-répare sans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chatbot est hybride, c'est un choix volontaire. Côté serveur, une couche NLU locale extrait les filtres de la requête (source, prix, catégorie) avec des regex et des dictionnaires. Elle gère aussi les salutations et les remerciements localement, sans appeler l'IA. Côté IA, j'utilise Llama 3.3 70B via Groq. Mais surtout : je lui INJECTE dans le prompt les vraies statistiques de la base et la liste réelle des produits trouvés. Résultat : le modèle compose des réponses naturelles, mais il ne peut PAS halluciner car il ne parle que des vrais produits. Si Groq est indisponible, le fallback local prend le relais.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scrape l'API toutes les 15 secondes sur l'endpoint /metrics. Il collecte 6 métriques custom : nombre de requêtes, durée, statut HTTP, endpoint, méthode, et le nombre de produits en DB. Grafana consomme ces données pour afficher des dashboards en temps réel. En production, l'API a servi 2 546 requêtes GET en 200 OK sans la moindre erreur 5xx. Les 404 correspondent à des scans de bots externes, et les 422 à des validations utilisateur. Cette stabilité valide les choix d'architecture.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qualité du code est garantie par 42 tests unitaires avec pytest, ce qui dépasse largement l'exigence minimale de 3 tests du sujet. Les tests couvrent 6 grandes catégories : validation des prix avec tous les cas aberrants, extraction des réductions, suppression de doublons, classification des catégories, pipeline complet et cas limites. J'utilise aussi Flasgger qui génère automatiquement une documentation Swagger/OpenAPI de l'API à partir des docstrings Python.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L'éthique est au cœur du projet. Je respecte robots.txt, avec un enforcement manuel pour Jumia qui n'expose pas de robots.txt standard. J'ajoute des délais entre requêtes avec AUTOTHROTTLE qui s'adapte à la charge du serveur. Je limite le volume à 500 items par run, conformément au sujet. Le User-Agent identifie clairement le bot. Je scrape en dehors des heures de pointe. Et je ne collecte que des données publiques, jamais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chiffres parlent d'eux-mêmes. Près de 2000 produits, plus de 13000 snapshots de prix historisés, 1088 promotions actives détectées automatiquement. Côté performance, 2500+ requêtes API servies avec ZÉRO erreur serveur. Côté qualité : 42 tests pytest, 12 services Docker orchestrés, plus de 5000 lignes de Python. C'est un projet de taille réelle, avec des données réelles, qui tourne en production sur ma machine.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ce projet m'a permis de monter en compétence sur beaucoup d'outils en même temps : Scrapy, Airflow, Celery, PostgreSQL avancé, intégration LLM, Docker, monitoring. Les perspectives sont nombreuses : ajouter des sources, prédire les baisses de prix avec un modèle ML, faire une app mobile, déployer dans le cloud. Merci pour votre attention, je suis disponible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2926080"/>
            <a:ext cx="12191695"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1097280"/>
          </a:xfrm>
          <a:prstGeom prst="rect">
            <a:avLst/>
          </a:prstGeom>
          <a:noFill/>
        </p:spPr>
        <p:txBody>
          <a:bodyPr wrap="square" lIns="60000" rIns="60000" tIns="40000" bIns="40000" anchor="ctr">
            <a:spAutoFit/>
          </a:bodyPr>
          <a:lstStyle/>
          <a:p>
            <a:pPr algn="ctr"/>
            <a:r>
              <a:rPr sz="7200" b="1">
                <a:solidFill>
                  <a:srgbClr val="FFFFFF"/>
                </a:solidFill>
                <a:latin typeface="Calibri"/>
              </a:rPr>
              <a:t>JumiaPrix CI</a:t>
            </a:r>
          </a:p>
        </p:txBody>
      </p:sp>
      <p:sp>
        <p:nvSpPr>
          <p:cNvPr id="4" name="TextBox 3"/>
          <p:cNvSpPr txBox="1"/>
          <p:nvPr/>
        </p:nvSpPr>
        <p:spPr>
          <a:xfrm>
            <a:off x="457200" y="3108960"/>
            <a:ext cx="11247120" cy="548640"/>
          </a:xfrm>
          <a:prstGeom prst="rect">
            <a:avLst/>
          </a:prstGeom>
          <a:noFill/>
        </p:spPr>
        <p:txBody>
          <a:bodyPr wrap="square" lIns="60000" rIns="60000" tIns="40000" bIns="40000" anchor="t">
            <a:spAutoFit/>
          </a:bodyPr>
          <a:lstStyle/>
          <a:p>
            <a:pPr algn="ctr"/>
            <a:r>
              <a:rPr sz="2400" b="0">
                <a:solidFill>
                  <a:srgbClr val="FFEDD5"/>
                </a:solidFill>
                <a:latin typeface="Calibri"/>
              </a:rPr>
              <a:t>Comparateur de prix e-commerce en Côte d'Ivoire</a:t>
            </a:r>
          </a:p>
        </p:txBody>
      </p:sp>
      <p:sp>
        <p:nvSpPr>
          <p:cNvPr id="5" name="TextBox 4"/>
          <p:cNvSpPr txBox="1"/>
          <p:nvPr/>
        </p:nvSpPr>
        <p:spPr>
          <a:xfrm>
            <a:off x="457200" y="3749039"/>
            <a:ext cx="11247120" cy="548640"/>
          </a:xfrm>
          <a:prstGeom prst="rect">
            <a:avLst/>
          </a:prstGeom>
          <a:noFill/>
        </p:spPr>
        <p:txBody>
          <a:bodyPr wrap="square" lIns="60000" rIns="60000" tIns="40000" bIns="40000" anchor="t">
            <a:spAutoFit/>
          </a:bodyPr>
          <a:lstStyle/>
          <a:p>
            <a:pPr algn="ctr"/>
            <a:r>
              <a:rPr sz="1600" b="0">
                <a:solidFill>
                  <a:srgbClr val="DBEAFE"/>
                </a:solidFill>
                <a:latin typeface="Calibri"/>
              </a:rPr>
              <a:t>Pipeline de web scraping multi-source avec IA, alertes et monitoring</a:t>
            </a:r>
          </a:p>
        </p:txBody>
      </p:sp>
      <p:sp>
        <p:nvSpPr>
          <p:cNvPr id="6" name="TextBox 5"/>
          <p:cNvSpPr txBox="1"/>
          <p:nvPr/>
        </p:nvSpPr>
        <p:spPr>
          <a:xfrm>
            <a:off x="457200" y="5486400"/>
            <a:ext cx="11247120" cy="365760"/>
          </a:xfrm>
          <a:prstGeom prst="rect">
            <a:avLst/>
          </a:prstGeom>
          <a:noFill/>
        </p:spPr>
        <p:txBody>
          <a:bodyPr wrap="square" lIns="60000" rIns="60000" tIns="40000" bIns="40000" anchor="t">
            <a:spAutoFit/>
          </a:bodyPr>
          <a:lstStyle/>
          <a:p>
            <a:pPr algn="ctr"/>
            <a:r>
              <a:rPr sz="1800" b="1">
                <a:solidFill>
                  <a:srgbClr val="FFFFFF"/>
                </a:solidFill>
                <a:latin typeface="Calibri"/>
              </a:rPr>
              <a:t>Nathan KINDO</a:t>
            </a:r>
          </a:p>
        </p:txBody>
      </p:sp>
      <p:sp>
        <p:nvSpPr>
          <p:cNvPr id="7" name="TextBox 6"/>
          <p:cNvSpPr txBox="1"/>
          <p:nvPr/>
        </p:nvSpPr>
        <p:spPr>
          <a:xfrm>
            <a:off x="457200" y="5852160"/>
            <a:ext cx="11247120" cy="320040"/>
          </a:xfrm>
          <a:prstGeom prst="rect">
            <a:avLst/>
          </a:prstGeom>
          <a:noFill/>
        </p:spPr>
        <p:txBody>
          <a:bodyPr wrap="square" lIns="60000" rIns="60000" tIns="40000" bIns="40000" anchor="t">
            <a:spAutoFit/>
          </a:bodyPr>
          <a:lstStyle/>
          <a:p>
            <a:pPr algn="ctr"/>
            <a:r>
              <a:rPr sz="1400" b="0">
                <a:solidFill>
                  <a:srgbClr val="DBEAFE"/>
                </a:solidFill>
                <a:latin typeface="Calibri"/>
              </a:rPr>
              <a:t>ENSEA — AS Data Science — Module Web Scraping</a:t>
            </a:r>
          </a:p>
        </p:txBody>
      </p:sp>
      <p:sp>
        <p:nvSpPr>
          <p:cNvPr id="8" name="TextBox 7"/>
          <p:cNvSpPr txBox="1"/>
          <p:nvPr/>
        </p:nvSpPr>
        <p:spPr>
          <a:xfrm>
            <a:off x="457200" y="6172200"/>
            <a:ext cx="11247120" cy="320040"/>
          </a:xfrm>
          <a:prstGeom prst="rect">
            <a:avLst/>
          </a:prstGeom>
          <a:noFill/>
        </p:spPr>
        <p:txBody>
          <a:bodyPr wrap="square" lIns="60000" rIns="60000" tIns="40000" bIns="40000" anchor="t">
            <a:spAutoFit/>
          </a:bodyPr>
          <a:lstStyle/>
          <a:p>
            <a:pPr algn="ctr"/>
            <a:r>
              <a:rPr sz="1200" b="0">
                <a:solidFill>
                  <a:srgbClr val="9CA3AF"/>
                </a:solidFill>
                <a:latin typeface="Calibr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Sommaire</a:t>
            </a:r>
          </a:p>
        </p:txBody>
      </p:sp>
      <p:sp>
        <p:nvSpPr>
          <p:cNvPr id="5" name="Rounded Rectangle 4"/>
          <p:cNvSpPr/>
          <p:nvPr/>
        </p:nvSpPr>
        <p:spPr>
          <a:xfrm>
            <a:off x="1371600" y="1554480"/>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54480"/>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1</a:t>
            </a:r>
          </a:p>
        </p:txBody>
      </p:sp>
      <p:sp>
        <p:nvSpPr>
          <p:cNvPr id="7" name="TextBox 6"/>
          <p:cNvSpPr txBox="1"/>
          <p:nvPr/>
        </p:nvSpPr>
        <p:spPr>
          <a:xfrm>
            <a:off x="2194560" y="1554480"/>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Problématique et objectifs</a:t>
            </a:r>
          </a:p>
        </p:txBody>
      </p:sp>
      <p:sp>
        <p:nvSpPr>
          <p:cNvPr id="8" name="Rounded Rectangle 7"/>
          <p:cNvSpPr/>
          <p:nvPr/>
        </p:nvSpPr>
        <p:spPr>
          <a:xfrm>
            <a:off x="1371600" y="2084831"/>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084831"/>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2</a:t>
            </a:r>
          </a:p>
        </p:txBody>
      </p:sp>
      <p:sp>
        <p:nvSpPr>
          <p:cNvPr id="10" name="TextBox 9"/>
          <p:cNvSpPr txBox="1"/>
          <p:nvPr/>
        </p:nvSpPr>
        <p:spPr>
          <a:xfrm>
            <a:off x="2194560" y="2084831"/>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Démonstration fonctionnelle</a:t>
            </a:r>
          </a:p>
        </p:txBody>
      </p:sp>
      <p:sp>
        <p:nvSpPr>
          <p:cNvPr id="11" name="Rounded Rectangle 10"/>
          <p:cNvSpPr/>
          <p:nvPr/>
        </p:nvSpPr>
        <p:spPr>
          <a:xfrm>
            <a:off x="1371600" y="2615184"/>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615184"/>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3</a:t>
            </a:r>
          </a:p>
        </p:txBody>
      </p:sp>
      <p:sp>
        <p:nvSpPr>
          <p:cNvPr id="13" name="TextBox 12"/>
          <p:cNvSpPr txBox="1"/>
          <p:nvPr/>
        </p:nvSpPr>
        <p:spPr>
          <a:xfrm>
            <a:off x="2194560" y="2615184"/>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Architecture technique (12 services Docker)</a:t>
            </a:r>
          </a:p>
        </p:txBody>
      </p:sp>
      <p:sp>
        <p:nvSpPr>
          <p:cNvPr id="14" name="Rounded Rectangle 13"/>
          <p:cNvSpPr/>
          <p:nvPr/>
        </p:nvSpPr>
        <p:spPr>
          <a:xfrm>
            <a:off x="1371600" y="3145536"/>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3145536"/>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4</a:t>
            </a:r>
          </a:p>
        </p:txBody>
      </p:sp>
      <p:sp>
        <p:nvSpPr>
          <p:cNvPr id="16" name="TextBox 15"/>
          <p:cNvSpPr txBox="1"/>
          <p:nvPr/>
        </p:nvSpPr>
        <p:spPr>
          <a:xfrm>
            <a:off x="2194560" y="3145536"/>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Pipeline de données et orchestration</a:t>
            </a:r>
          </a:p>
        </p:txBody>
      </p:sp>
      <p:sp>
        <p:nvSpPr>
          <p:cNvPr id="17" name="Rounded Rectangle 16"/>
          <p:cNvSpPr/>
          <p:nvPr/>
        </p:nvSpPr>
        <p:spPr>
          <a:xfrm>
            <a:off x="1371600" y="3675887"/>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3675887"/>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5</a:t>
            </a:r>
          </a:p>
        </p:txBody>
      </p:sp>
      <p:sp>
        <p:nvSpPr>
          <p:cNvPr id="19" name="TextBox 18"/>
          <p:cNvSpPr txBox="1"/>
          <p:nvPr/>
        </p:nvSpPr>
        <p:spPr>
          <a:xfrm>
            <a:off x="2194560" y="3675887"/>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Base de données (schéma 8 tables)</a:t>
            </a:r>
          </a:p>
        </p:txBody>
      </p:sp>
      <p:sp>
        <p:nvSpPr>
          <p:cNvPr id="20" name="Rounded Rectangle 19"/>
          <p:cNvSpPr/>
          <p:nvPr/>
        </p:nvSpPr>
        <p:spPr>
          <a:xfrm>
            <a:off x="1371600" y="4206240"/>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4206240"/>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6</a:t>
            </a:r>
          </a:p>
        </p:txBody>
      </p:sp>
      <p:sp>
        <p:nvSpPr>
          <p:cNvPr id="22" name="TextBox 21"/>
          <p:cNvSpPr txBox="1"/>
          <p:nvPr/>
        </p:nvSpPr>
        <p:spPr>
          <a:xfrm>
            <a:off x="2194560" y="4206240"/>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Défis techniques rencontrés</a:t>
            </a:r>
          </a:p>
        </p:txBody>
      </p:sp>
      <p:sp>
        <p:nvSpPr>
          <p:cNvPr id="23" name="Rounded Rectangle 22"/>
          <p:cNvSpPr/>
          <p:nvPr/>
        </p:nvSpPr>
        <p:spPr>
          <a:xfrm>
            <a:off x="1371600" y="4736592"/>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4736592"/>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7</a:t>
            </a:r>
          </a:p>
        </p:txBody>
      </p:sp>
      <p:sp>
        <p:nvSpPr>
          <p:cNvPr id="25" name="TextBox 24"/>
          <p:cNvSpPr txBox="1"/>
          <p:nvPr/>
        </p:nvSpPr>
        <p:spPr>
          <a:xfrm>
            <a:off x="2194560" y="4736592"/>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Chatbot JumiBot (IA hybride)</a:t>
            </a:r>
          </a:p>
        </p:txBody>
      </p:sp>
      <p:sp>
        <p:nvSpPr>
          <p:cNvPr id="26" name="Rounded Rectangle 25"/>
          <p:cNvSpPr/>
          <p:nvPr/>
        </p:nvSpPr>
        <p:spPr>
          <a:xfrm>
            <a:off x="1371600" y="5266944"/>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5266944"/>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8</a:t>
            </a:r>
          </a:p>
        </p:txBody>
      </p:sp>
      <p:sp>
        <p:nvSpPr>
          <p:cNvPr id="28" name="TextBox 27"/>
          <p:cNvSpPr txBox="1"/>
          <p:nvPr/>
        </p:nvSpPr>
        <p:spPr>
          <a:xfrm>
            <a:off x="2194560" y="5266944"/>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Monitoring, tests et éthique</a:t>
            </a:r>
          </a:p>
        </p:txBody>
      </p:sp>
      <p:sp>
        <p:nvSpPr>
          <p:cNvPr id="29" name="Rounded Rectangle 28"/>
          <p:cNvSpPr/>
          <p:nvPr/>
        </p:nvSpPr>
        <p:spPr>
          <a:xfrm>
            <a:off x="1371600" y="5797296"/>
            <a:ext cx="640080" cy="50292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5797296"/>
            <a:ext cx="640080" cy="502920"/>
          </a:xfrm>
          <a:prstGeom prst="rect">
            <a:avLst/>
          </a:prstGeom>
          <a:noFill/>
        </p:spPr>
        <p:txBody>
          <a:bodyPr wrap="square" lIns="60000" rIns="60000" tIns="40000" bIns="40000" anchor="ctr">
            <a:spAutoFit/>
          </a:bodyPr>
          <a:lstStyle/>
          <a:p>
            <a:pPr algn="ctr"/>
            <a:r>
              <a:rPr sz="2000" b="1">
                <a:solidFill>
                  <a:srgbClr val="FFFFFF"/>
                </a:solidFill>
                <a:latin typeface="Calibri"/>
              </a:rPr>
              <a:t>9</a:t>
            </a:r>
          </a:p>
        </p:txBody>
      </p:sp>
      <p:sp>
        <p:nvSpPr>
          <p:cNvPr id="31" name="TextBox 30"/>
          <p:cNvSpPr txBox="1"/>
          <p:nvPr/>
        </p:nvSpPr>
        <p:spPr>
          <a:xfrm>
            <a:off x="2194560" y="5797296"/>
            <a:ext cx="9144000" cy="502920"/>
          </a:xfrm>
          <a:prstGeom prst="rect">
            <a:avLst/>
          </a:prstGeom>
          <a:noFill/>
        </p:spPr>
        <p:txBody>
          <a:bodyPr wrap="square" lIns="60000" rIns="60000" tIns="40000" bIns="40000" anchor="ctr">
            <a:spAutoFit/>
          </a:bodyPr>
          <a:lstStyle/>
          <a:p>
            <a:pPr algn="l"/>
            <a:r>
              <a:rPr sz="2000" b="0">
                <a:solidFill>
                  <a:srgbClr val="333333"/>
                </a:solidFill>
                <a:latin typeface="Calibri"/>
              </a:rPr>
              <a:t>Chiffres-clés et conclusion</a:t>
            </a:r>
          </a:p>
        </p:txBody>
      </p:sp>
      <p:sp>
        <p:nvSpPr>
          <p:cNvPr id="32" name="Rectangle 31"/>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4" name="TextBox 33"/>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Problématique</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Le constat de départ</a:t>
            </a:r>
          </a:p>
        </p:txBody>
      </p:sp>
      <p:sp>
        <p:nvSpPr>
          <p:cNvPr id="6" name="Rounded Rectangle 5"/>
          <p:cNvSpPr/>
          <p:nvPr/>
        </p:nvSpPr>
        <p:spPr>
          <a:xfrm>
            <a:off x="457200" y="1554480"/>
            <a:ext cx="11247120" cy="109728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10698480" cy="914400"/>
          </a:xfrm>
          <a:prstGeom prst="rect">
            <a:avLst/>
          </a:prstGeom>
          <a:noFill/>
        </p:spPr>
        <p:txBody>
          <a:bodyPr wrap="square" lIns="60000" rIns="60000" tIns="40000" bIns="40000" anchor="ctr">
            <a:spAutoFit/>
          </a:bodyPr>
          <a:lstStyle/>
          <a:p>
            <a:pPr algn="l"/>
            <a:r>
              <a:rPr sz="1800" b="0">
                <a:solidFill>
                  <a:srgbClr val="333333"/>
                </a:solidFill>
                <a:latin typeface="Calibri"/>
              </a:rPr>
              <a:t>En Côte d'Ivoire, les consommateurs doivent visiter manuellement plusieurs sites e-commerce pour comparer les prix, repérer les promotions et suivre les baisses.</a:t>
            </a:r>
          </a:p>
        </p:txBody>
      </p:sp>
      <p:sp>
        <p:nvSpPr>
          <p:cNvPr id="8" name="Rounded Rectangle 7"/>
          <p:cNvSpPr/>
          <p:nvPr/>
        </p:nvSpPr>
        <p:spPr>
          <a:xfrm>
            <a:off x="548640" y="3017520"/>
            <a:ext cx="3474720" cy="201168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3017520"/>
            <a:ext cx="3474720" cy="6400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17520"/>
            <a:ext cx="3474720" cy="640080"/>
          </a:xfrm>
          <a:prstGeom prst="rect">
            <a:avLst/>
          </a:prstGeom>
          <a:noFill/>
        </p:spPr>
        <p:txBody>
          <a:bodyPr wrap="square" lIns="60000" rIns="60000" tIns="40000" bIns="40000" anchor="ctr">
            <a:spAutoFit/>
          </a:bodyPr>
          <a:lstStyle/>
          <a:p>
            <a:pPr algn="ctr"/>
            <a:r>
              <a:rPr sz="1800" b="1">
                <a:solidFill>
                  <a:srgbClr val="FFFFFF"/>
                </a:solidFill>
                <a:latin typeface="Calibri"/>
              </a:rPr>
              <a:t>Temps perdu</a:t>
            </a:r>
          </a:p>
        </p:txBody>
      </p:sp>
      <p:sp>
        <p:nvSpPr>
          <p:cNvPr id="11" name="TextBox 10"/>
          <p:cNvSpPr txBox="1"/>
          <p:nvPr/>
        </p:nvSpPr>
        <p:spPr>
          <a:xfrm>
            <a:off x="548640" y="3794759"/>
            <a:ext cx="3474720" cy="1097280"/>
          </a:xfrm>
          <a:prstGeom prst="rect">
            <a:avLst/>
          </a:prstGeom>
          <a:noFill/>
        </p:spPr>
        <p:txBody>
          <a:bodyPr wrap="square" lIns="60000" rIns="60000" tIns="40000" bIns="40000" anchor="ctr">
            <a:spAutoFit/>
          </a:bodyPr>
          <a:lstStyle/>
          <a:p>
            <a:pPr algn="ctr"/>
            <a:r>
              <a:rPr sz="1400" b="0">
                <a:solidFill>
                  <a:srgbClr val="333333"/>
                </a:solidFill>
                <a:latin typeface="Calibri"/>
              </a:rPr>
              <a:t>Visite manuelle de 3+ sites</a:t>
            </a:r>
          </a:p>
        </p:txBody>
      </p:sp>
      <p:sp>
        <p:nvSpPr>
          <p:cNvPr id="12" name="Rounded Rectangle 11"/>
          <p:cNvSpPr/>
          <p:nvPr/>
        </p:nvSpPr>
        <p:spPr>
          <a:xfrm>
            <a:off x="4297679" y="3017520"/>
            <a:ext cx="3474720" cy="201168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79" y="3017520"/>
            <a:ext cx="3474720" cy="6400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3017520"/>
            <a:ext cx="3474720" cy="640080"/>
          </a:xfrm>
          <a:prstGeom prst="rect">
            <a:avLst/>
          </a:prstGeom>
          <a:noFill/>
        </p:spPr>
        <p:txBody>
          <a:bodyPr wrap="square" lIns="60000" rIns="60000" tIns="40000" bIns="40000" anchor="ctr">
            <a:spAutoFit/>
          </a:bodyPr>
          <a:lstStyle/>
          <a:p>
            <a:pPr algn="ctr"/>
            <a:r>
              <a:rPr sz="1800" b="1">
                <a:solidFill>
                  <a:srgbClr val="FFFFFF"/>
                </a:solidFill>
                <a:latin typeface="Calibri"/>
              </a:rPr>
              <a:t>Pas d'historique</a:t>
            </a:r>
          </a:p>
        </p:txBody>
      </p:sp>
      <p:sp>
        <p:nvSpPr>
          <p:cNvPr id="15" name="TextBox 14"/>
          <p:cNvSpPr txBox="1"/>
          <p:nvPr/>
        </p:nvSpPr>
        <p:spPr>
          <a:xfrm>
            <a:off x="4297679" y="3794759"/>
            <a:ext cx="3474720" cy="1097280"/>
          </a:xfrm>
          <a:prstGeom prst="rect">
            <a:avLst/>
          </a:prstGeom>
          <a:noFill/>
        </p:spPr>
        <p:txBody>
          <a:bodyPr wrap="square" lIns="60000" rIns="60000" tIns="40000" bIns="40000" anchor="ctr">
            <a:spAutoFit/>
          </a:bodyPr>
          <a:lstStyle/>
          <a:p>
            <a:pPr algn="ctr"/>
            <a:r>
              <a:rPr sz="1400" b="0">
                <a:solidFill>
                  <a:srgbClr val="333333"/>
                </a:solidFill>
                <a:latin typeface="Calibri"/>
              </a:rPr>
              <a:t>Impossible de suivre les tendances de prix</a:t>
            </a:r>
          </a:p>
        </p:txBody>
      </p:sp>
      <p:sp>
        <p:nvSpPr>
          <p:cNvPr id="16" name="Rounded Rectangle 15"/>
          <p:cNvSpPr/>
          <p:nvPr/>
        </p:nvSpPr>
        <p:spPr>
          <a:xfrm>
            <a:off x="8046719" y="3017520"/>
            <a:ext cx="3474720" cy="201168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19" y="3017520"/>
            <a:ext cx="3474720" cy="64008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3017520"/>
            <a:ext cx="3474720" cy="640080"/>
          </a:xfrm>
          <a:prstGeom prst="rect">
            <a:avLst/>
          </a:prstGeom>
          <a:noFill/>
        </p:spPr>
        <p:txBody>
          <a:bodyPr wrap="square" lIns="60000" rIns="60000" tIns="40000" bIns="40000" anchor="ctr">
            <a:spAutoFit/>
          </a:bodyPr>
          <a:lstStyle/>
          <a:p>
            <a:pPr algn="ctr"/>
            <a:r>
              <a:rPr sz="1800" b="1">
                <a:solidFill>
                  <a:srgbClr val="FFFFFF"/>
                </a:solidFill>
                <a:latin typeface="Calibri"/>
              </a:rPr>
              <a:t>Pas d'alerte</a:t>
            </a:r>
          </a:p>
        </p:txBody>
      </p:sp>
      <p:sp>
        <p:nvSpPr>
          <p:cNvPr id="19" name="TextBox 18"/>
          <p:cNvSpPr txBox="1"/>
          <p:nvPr/>
        </p:nvSpPr>
        <p:spPr>
          <a:xfrm>
            <a:off x="8046719" y="3794759"/>
            <a:ext cx="3474720" cy="1097280"/>
          </a:xfrm>
          <a:prstGeom prst="rect">
            <a:avLst/>
          </a:prstGeom>
          <a:noFill/>
        </p:spPr>
        <p:txBody>
          <a:bodyPr wrap="square" lIns="60000" rIns="60000" tIns="40000" bIns="40000" anchor="ctr">
            <a:spAutoFit/>
          </a:bodyPr>
          <a:lstStyle/>
          <a:p>
            <a:pPr algn="ctr"/>
            <a:r>
              <a:rPr sz="1400" b="0">
                <a:solidFill>
                  <a:srgbClr val="333333"/>
                </a:solidFill>
                <a:latin typeface="Calibri"/>
              </a:rPr>
              <a:t>On rate les baisses importantes</a:t>
            </a:r>
          </a:p>
        </p:txBody>
      </p:sp>
      <p:sp>
        <p:nvSpPr>
          <p:cNvPr id="20" name="TextBox 19"/>
          <p:cNvSpPr txBox="1"/>
          <p:nvPr/>
        </p:nvSpPr>
        <p:spPr>
          <a:xfrm>
            <a:off x="457200" y="5394960"/>
            <a:ext cx="11247120" cy="457200"/>
          </a:xfrm>
          <a:prstGeom prst="rect">
            <a:avLst/>
          </a:prstGeom>
          <a:noFill/>
        </p:spPr>
        <p:txBody>
          <a:bodyPr wrap="square" lIns="60000" rIns="60000" tIns="40000" bIns="40000" anchor="t">
            <a:spAutoFit/>
          </a:bodyPr>
          <a:lstStyle/>
          <a:p>
            <a:pPr algn="ctr"/>
            <a:r>
              <a:rPr sz="2000" b="1">
                <a:solidFill>
                  <a:srgbClr val="F97316"/>
                </a:solidFill>
                <a:latin typeface="Calibri"/>
              </a:rPr>
              <a:t>→  Besoin d'un service qui AGRÈGE, STOCKE et NOTIFIE automatiquement</a:t>
            </a:r>
          </a:p>
        </p:txBody>
      </p:sp>
      <p:sp>
        <p:nvSpPr>
          <p:cNvPr id="21" name="Rectangle 20"/>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23" name="TextBox 22"/>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Objectifs</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Ce que JumiaPrix CI réalise</a:t>
            </a:r>
          </a:p>
        </p:txBody>
      </p:sp>
      <p:sp>
        <p:nvSpPr>
          <p:cNvPr id="6" name="Rounded Rectangle 5"/>
          <p:cNvSpPr/>
          <p:nvPr/>
        </p:nvSpPr>
        <p:spPr>
          <a:xfrm>
            <a:off x="457200" y="1463040"/>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463040"/>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Scraper</a:t>
            </a:r>
          </a:p>
        </p:txBody>
      </p:sp>
      <p:sp>
        <p:nvSpPr>
          <p:cNvPr id="9" name="TextBox 8"/>
          <p:cNvSpPr txBox="1"/>
          <p:nvPr/>
        </p:nvSpPr>
        <p:spPr>
          <a:xfrm>
            <a:off x="640080" y="2240280"/>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3 sources e-commerce ivoiriennes quotidiennement
Jumia, DjokStore, CoinAfrique</a:t>
            </a:r>
          </a:p>
        </p:txBody>
      </p:sp>
      <p:sp>
        <p:nvSpPr>
          <p:cNvPr id="10" name="Rounded Rectangle 9"/>
          <p:cNvSpPr/>
          <p:nvPr/>
        </p:nvSpPr>
        <p:spPr>
          <a:xfrm>
            <a:off x="4389120" y="1463040"/>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463040"/>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463040"/>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Nettoyer</a:t>
            </a:r>
          </a:p>
        </p:txBody>
      </p:sp>
      <p:sp>
        <p:nvSpPr>
          <p:cNvPr id="13" name="TextBox 12"/>
          <p:cNvSpPr txBox="1"/>
          <p:nvPr/>
        </p:nvSpPr>
        <p:spPr>
          <a:xfrm>
            <a:off x="4572000" y="2240280"/>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Normaliser, valider et dédupliquer les données
Taux de rétention 85-100 %</a:t>
            </a:r>
          </a:p>
        </p:txBody>
      </p:sp>
      <p:sp>
        <p:nvSpPr>
          <p:cNvPr id="14" name="Rounded Rectangle 13"/>
          <p:cNvSpPr/>
          <p:nvPr/>
        </p:nvSpPr>
        <p:spPr>
          <a:xfrm>
            <a:off x="8321040" y="1463040"/>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0" y="1463040"/>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463040"/>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Stocker</a:t>
            </a:r>
          </a:p>
        </p:txBody>
      </p:sp>
      <p:sp>
        <p:nvSpPr>
          <p:cNvPr id="17" name="TextBox 16"/>
          <p:cNvSpPr txBox="1"/>
          <p:nvPr/>
        </p:nvSpPr>
        <p:spPr>
          <a:xfrm>
            <a:off x="8503919" y="2240280"/>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Historiser les prix dans PostgreSQL
13 600 snapshots à ce jour</a:t>
            </a:r>
          </a:p>
        </p:txBody>
      </p:sp>
      <p:sp>
        <p:nvSpPr>
          <p:cNvPr id="18" name="Rounded Rectangle 17"/>
          <p:cNvSpPr/>
          <p:nvPr/>
        </p:nvSpPr>
        <p:spPr>
          <a:xfrm>
            <a:off x="457200" y="3749039"/>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7200" y="3749039"/>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749039"/>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Exposer</a:t>
            </a:r>
          </a:p>
        </p:txBody>
      </p:sp>
      <p:sp>
        <p:nvSpPr>
          <p:cNvPr id="21" name="TextBox 20"/>
          <p:cNvSpPr txBox="1"/>
          <p:nvPr/>
        </p:nvSpPr>
        <p:spPr>
          <a:xfrm>
            <a:off x="640080" y="4526279"/>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API REST + interface web + chatbot LLM
Recherche, filtres, stats, auth</a:t>
            </a:r>
          </a:p>
        </p:txBody>
      </p:sp>
      <p:sp>
        <p:nvSpPr>
          <p:cNvPr id="22" name="Rounded Rectangle 21"/>
          <p:cNvSpPr/>
          <p:nvPr/>
        </p:nvSpPr>
        <p:spPr>
          <a:xfrm>
            <a:off x="4389120" y="3749039"/>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89120" y="3749039"/>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3749039"/>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Alerter</a:t>
            </a:r>
          </a:p>
        </p:txBody>
      </p:sp>
      <p:sp>
        <p:nvSpPr>
          <p:cNvPr id="25" name="TextBox 24"/>
          <p:cNvSpPr txBox="1"/>
          <p:nvPr/>
        </p:nvSpPr>
        <p:spPr>
          <a:xfrm>
            <a:off x="4572000" y="4526279"/>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Notifications email sur baisses de prix
Personnalisables par utilisateur</a:t>
            </a:r>
          </a:p>
        </p:txBody>
      </p:sp>
      <p:sp>
        <p:nvSpPr>
          <p:cNvPr id="26" name="Rounded Rectangle 25"/>
          <p:cNvSpPr/>
          <p:nvPr/>
        </p:nvSpPr>
        <p:spPr>
          <a:xfrm>
            <a:off x="8321040" y="3749039"/>
            <a:ext cx="3749039" cy="210312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21040" y="3749039"/>
            <a:ext cx="3749039" cy="6400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3749039"/>
            <a:ext cx="3749039" cy="640080"/>
          </a:xfrm>
          <a:prstGeom prst="rect">
            <a:avLst/>
          </a:prstGeom>
          <a:noFill/>
        </p:spPr>
        <p:txBody>
          <a:bodyPr wrap="square" lIns="60000" rIns="60000" tIns="40000" bIns="40000" anchor="ctr">
            <a:spAutoFit/>
          </a:bodyPr>
          <a:lstStyle/>
          <a:p>
            <a:pPr algn="ctr"/>
            <a:r>
              <a:rPr sz="2000" b="1">
                <a:solidFill>
                  <a:srgbClr val="FFFFFF"/>
                </a:solidFill>
                <a:latin typeface="Calibri"/>
              </a:rPr>
              <a:t>Monitorer</a:t>
            </a:r>
          </a:p>
        </p:txBody>
      </p:sp>
      <p:sp>
        <p:nvSpPr>
          <p:cNvPr id="29" name="TextBox 28"/>
          <p:cNvSpPr txBox="1"/>
          <p:nvPr/>
        </p:nvSpPr>
        <p:spPr>
          <a:xfrm>
            <a:off x="8503919" y="4526279"/>
            <a:ext cx="3383280" cy="1234440"/>
          </a:xfrm>
          <a:prstGeom prst="rect">
            <a:avLst/>
          </a:prstGeom>
          <a:noFill/>
        </p:spPr>
        <p:txBody>
          <a:bodyPr wrap="square" lIns="60000" rIns="60000" tIns="40000" bIns="40000" anchor="ctr">
            <a:spAutoFit/>
          </a:bodyPr>
          <a:lstStyle/>
          <a:p>
            <a:pPr algn="ctr"/>
            <a:r>
              <a:rPr sz="1400" b="0">
                <a:solidFill>
                  <a:srgbClr val="333333"/>
                </a:solidFill>
                <a:latin typeface="Calibri"/>
              </a:rPr>
              <a:t>Prometheus + Grafana + logs structurés
Temps réel, dashboard visuel</a:t>
            </a:r>
          </a:p>
        </p:txBody>
      </p:sp>
      <p:sp>
        <p:nvSpPr>
          <p:cNvPr id="30" name="Rectangle 29"/>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2" name="TextBox 31"/>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Démonstration fonctionnelle</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Ce que voit l'utilisateur</a:t>
            </a:r>
          </a:p>
        </p:txBody>
      </p:sp>
      <p:sp>
        <p:nvSpPr>
          <p:cNvPr id="6" name="Rounded Rectangle 5"/>
          <p:cNvSpPr/>
          <p:nvPr/>
        </p:nvSpPr>
        <p:spPr>
          <a:xfrm>
            <a:off x="365760" y="146304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7200" y="153619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1792" y="153619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86384" y="153619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78308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78308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Page d'accueil</a:t>
            </a:r>
          </a:p>
        </p:txBody>
      </p:sp>
      <p:sp>
        <p:nvSpPr>
          <p:cNvPr id="13" name="TextBox 12"/>
          <p:cNvSpPr txBox="1"/>
          <p:nvPr/>
        </p:nvSpPr>
        <p:spPr>
          <a:xfrm>
            <a:off x="502920" y="251460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Vitrine, stats globales, derniers produits</a:t>
            </a:r>
          </a:p>
        </p:txBody>
      </p:sp>
      <p:sp>
        <p:nvSpPr>
          <p:cNvPr id="14" name="Rounded Rectangle 13"/>
          <p:cNvSpPr/>
          <p:nvPr/>
        </p:nvSpPr>
        <p:spPr>
          <a:xfrm>
            <a:off x="3310128" y="146304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10128" y="146304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01568" y="153619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66160" y="153619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30752" y="153619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0128" y="178308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128" y="178308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Boutique</a:t>
            </a:r>
          </a:p>
        </p:txBody>
      </p:sp>
      <p:sp>
        <p:nvSpPr>
          <p:cNvPr id="21" name="TextBox 20"/>
          <p:cNvSpPr txBox="1"/>
          <p:nvPr/>
        </p:nvSpPr>
        <p:spPr>
          <a:xfrm>
            <a:off x="3447288" y="251460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Catalogue filtrable par source, catégorie, prix</a:t>
            </a:r>
          </a:p>
        </p:txBody>
      </p:sp>
      <p:sp>
        <p:nvSpPr>
          <p:cNvPr id="22" name="Rounded Rectangle 21"/>
          <p:cNvSpPr/>
          <p:nvPr/>
        </p:nvSpPr>
        <p:spPr>
          <a:xfrm>
            <a:off x="6254496" y="146304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4496" y="146304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45936" y="153619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10528" y="153619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0" y="153619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54496" y="178308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6" y="178308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Comparer</a:t>
            </a:r>
          </a:p>
        </p:txBody>
      </p:sp>
      <p:sp>
        <p:nvSpPr>
          <p:cNvPr id="29" name="TextBox 28"/>
          <p:cNvSpPr txBox="1"/>
          <p:nvPr/>
        </p:nvSpPr>
        <p:spPr>
          <a:xfrm>
            <a:off x="6391656" y="251460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Vue côte à côte entre les 3 sources</a:t>
            </a:r>
          </a:p>
        </p:txBody>
      </p:sp>
      <p:sp>
        <p:nvSpPr>
          <p:cNvPr id="30" name="Rounded Rectangle 29"/>
          <p:cNvSpPr/>
          <p:nvPr/>
        </p:nvSpPr>
        <p:spPr>
          <a:xfrm>
            <a:off x="9198864" y="146304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98864" y="146304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90304" y="153619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54896" y="153619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19488" y="153619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98864" y="178308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98864" y="178308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Historique</a:t>
            </a:r>
          </a:p>
        </p:txBody>
      </p:sp>
      <p:sp>
        <p:nvSpPr>
          <p:cNvPr id="37" name="TextBox 36"/>
          <p:cNvSpPr txBox="1"/>
          <p:nvPr/>
        </p:nvSpPr>
        <p:spPr>
          <a:xfrm>
            <a:off x="9336024" y="251460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Graphique d'évolution du prix d'un produit</a:t>
            </a:r>
          </a:p>
        </p:txBody>
      </p:sp>
      <p:sp>
        <p:nvSpPr>
          <p:cNvPr id="38" name="Rounded Rectangle 37"/>
          <p:cNvSpPr/>
          <p:nvPr/>
        </p:nvSpPr>
        <p:spPr>
          <a:xfrm>
            <a:off x="365760" y="384048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84048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57200" y="391363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21792" y="391363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86384" y="391363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16052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16052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Mon espace</a:t>
            </a:r>
          </a:p>
        </p:txBody>
      </p:sp>
      <p:sp>
        <p:nvSpPr>
          <p:cNvPr id="45" name="TextBox 44"/>
          <p:cNvSpPr txBox="1"/>
          <p:nvPr/>
        </p:nvSpPr>
        <p:spPr>
          <a:xfrm>
            <a:off x="502920" y="489204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Favoris, alertes, préférences (auth JWT)</a:t>
            </a:r>
          </a:p>
        </p:txBody>
      </p:sp>
      <p:sp>
        <p:nvSpPr>
          <p:cNvPr id="46" name="Rounded Rectangle 45"/>
          <p:cNvSpPr/>
          <p:nvPr/>
        </p:nvSpPr>
        <p:spPr>
          <a:xfrm>
            <a:off x="3310128" y="384048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310128" y="384048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401568" y="391363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66160" y="391363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30752" y="391363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10128" y="416052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10128" y="416052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Assistant IA</a:t>
            </a:r>
          </a:p>
        </p:txBody>
      </p:sp>
      <p:sp>
        <p:nvSpPr>
          <p:cNvPr id="53" name="TextBox 52"/>
          <p:cNvSpPr txBox="1"/>
          <p:nvPr/>
        </p:nvSpPr>
        <p:spPr>
          <a:xfrm>
            <a:off x="3447288" y="489204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Chatbot conversationnel multilingue</a:t>
            </a:r>
          </a:p>
        </p:txBody>
      </p:sp>
      <p:sp>
        <p:nvSpPr>
          <p:cNvPr id="54" name="Rounded Rectangle 53"/>
          <p:cNvSpPr/>
          <p:nvPr/>
        </p:nvSpPr>
        <p:spPr>
          <a:xfrm>
            <a:off x="6254496" y="384048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54496" y="384048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345936" y="391363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510528" y="391363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75120" y="391363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54496" y="416052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4496" y="416052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Admin</a:t>
            </a:r>
          </a:p>
        </p:txBody>
      </p:sp>
      <p:sp>
        <p:nvSpPr>
          <p:cNvPr id="61" name="TextBox 60"/>
          <p:cNvSpPr txBox="1"/>
          <p:nvPr/>
        </p:nvSpPr>
        <p:spPr>
          <a:xfrm>
            <a:off x="6391656" y="489204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Gestion users, scrape logs, stats admin</a:t>
            </a:r>
          </a:p>
        </p:txBody>
      </p:sp>
      <p:sp>
        <p:nvSpPr>
          <p:cNvPr id="62" name="Rounded Rectangle 61"/>
          <p:cNvSpPr/>
          <p:nvPr/>
        </p:nvSpPr>
        <p:spPr>
          <a:xfrm>
            <a:off x="9198864" y="3840480"/>
            <a:ext cx="2834640" cy="2103120"/>
          </a:xfrm>
          <a:prstGeom prst="roundRect">
            <a:avLst/>
          </a:prstGeom>
          <a:solidFill>
            <a:srgbClr val="FFFFFF"/>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198864" y="3840480"/>
            <a:ext cx="2834640"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290304" y="3913632"/>
            <a:ext cx="128016" cy="128016"/>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454896" y="3913632"/>
            <a:ext cx="128016" cy="128016"/>
          </a:xfrm>
          <a:prstGeom prst="ellipse">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619488" y="3913632"/>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198864" y="4160520"/>
            <a:ext cx="283464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98864" y="4160520"/>
            <a:ext cx="2834640" cy="640080"/>
          </a:xfrm>
          <a:prstGeom prst="rect">
            <a:avLst/>
          </a:prstGeom>
          <a:noFill/>
        </p:spPr>
        <p:txBody>
          <a:bodyPr wrap="square" lIns="60000" rIns="60000" tIns="40000" bIns="40000" anchor="ctr">
            <a:spAutoFit/>
          </a:bodyPr>
          <a:lstStyle/>
          <a:p>
            <a:pPr algn="ctr"/>
            <a:r>
              <a:rPr sz="1500" b="1">
                <a:solidFill>
                  <a:srgbClr val="FFFFFF"/>
                </a:solidFill>
                <a:latin typeface="Calibri"/>
              </a:rPr>
              <a:t>API Docs</a:t>
            </a:r>
          </a:p>
        </p:txBody>
      </p:sp>
      <p:sp>
        <p:nvSpPr>
          <p:cNvPr id="69" name="TextBox 68"/>
          <p:cNvSpPr txBox="1"/>
          <p:nvPr/>
        </p:nvSpPr>
        <p:spPr>
          <a:xfrm>
            <a:off x="9336024" y="4892040"/>
            <a:ext cx="2560320" cy="1005840"/>
          </a:xfrm>
          <a:prstGeom prst="rect">
            <a:avLst/>
          </a:prstGeom>
          <a:noFill/>
        </p:spPr>
        <p:txBody>
          <a:bodyPr wrap="square" lIns="60000" rIns="60000" tIns="40000" bIns="40000" anchor="ctr">
            <a:spAutoFit/>
          </a:bodyPr>
          <a:lstStyle/>
          <a:p>
            <a:pPr algn="ctr"/>
            <a:r>
              <a:rPr sz="1100" b="0">
                <a:solidFill>
                  <a:srgbClr val="333333"/>
                </a:solidFill>
                <a:latin typeface="Calibri"/>
              </a:rPr>
              <a:t>Documentation Swagger interactive</a:t>
            </a:r>
          </a:p>
        </p:txBody>
      </p:sp>
      <p:sp>
        <p:nvSpPr>
          <p:cNvPr id="70" name="Rectangle 69"/>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72" name="TextBox 71"/>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Architecture technique</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12 services orchestrés par Docker Compose</a:t>
            </a:r>
          </a:p>
        </p:txBody>
      </p:sp>
      <p:sp>
        <p:nvSpPr>
          <p:cNvPr id="6" name="TextBox 5"/>
          <p:cNvSpPr txBox="1"/>
          <p:nvPr/>
        </p:nvSpPr>
        <p:spPr>
          <a:xfrm>
            <a:off x="274320" y="1600200"/>
            <a:ext cx="1463040" cy="731520"/>
          </a:xfrm>
          <a:prstGeom prst="rect">
            <a:avLst/>
          </a:prstGeom>
          <a:noFill/>
        </p:spPr>
        <p:txBody>
          <a:bodyPr wrap="square" lIns="60000" rIns="60000" tIns="40000" bIns="40000" anchor="ctr">
            <a:spAutoFit/>
          </a:bodyPr>
          <a:lstStyle/>
          <a:p>
            <a:pPr algn="l"/>
            <a:r>
              <a:rPr sz="1200" b="1">
                <a:solidFill>
                  <a:srgbClr val="9CA3AF"/>
                </a:solidFill>
                <a:latin typeface="Calibri"/>
              </a:rPr>
              <a:t>SOURCES</a:t>
            </a:r>
          </a:p>
        </p:txBody>
      </p:sp>
      <p:sp>
        <p:nvSpPr>
          <p:cNvPr id="7" name="Rounded Rectangle 6"/>
          <p:cNvSpPr/>
          <p:nvPr/>
        </p:nvSpPr>
        <p:spPr>
          <a:xfrm>
            <a:off x="1828800" y="1463040"/>
            <a:ext cx="237744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46304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Jumia CI</a:t>
            </a:r>
          </a:p>
        </p:txBody>
      </p:sp>
      <p:sp>
        <p:nvSpPr>
          <p:cNvPr id="9" name="Rounded Rectangle 8"/>
          <p:cNvSpPr/>
          <p:nvPr/>
        </p:nvSpPr>
        <p:spPr>
          <a:xfrm>
            <a:off x="4343400" y="1463040"/>
            <a:ext cx="237744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46304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DjokStore</a:t>
            </a:r>
          </a:p>
        </p:txBody>
      </p:sp>
      <p:sp>
        <p:nvSpPr>
          <p:cNvPr id="11" name="Rounded Rectangle 10"/>
          <p:cNvSpPr/>
          <p:nvPr/>
        </p:nvSpPr>
        <p:spPr>
          <a:xfrm>
            <a:off x="6858000" y="1463040"/>
            <a:ext cx="237744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46304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CoinAfrique</a:t>
            </a:r>
          </a:p>
        </p:txBody>
      </p:sp>
      <p:sp>
        <p:nvSpPr>
          <p:cNvPr id="13" name="Rounded Rectangle 12"/>
          <p:cNvSpPr/>
          <p:nvPr/>
        </p:nvSpPr>
        <p:spPr>
          <a:xfrm>
            <a:off x="9372600" y="1463040"/>
            <a:ext cx="2377440" cy="822960"/>
          </a:xfrm>
          <a:prstGeom prst="round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600" y="146304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FlareSolverr</a:t>
            </a:r>
          </a:p>
        </p:txBody>
      </p:sp>
      <p:sp>
        <p:nvSpPr>
          <p:cNvPr id="15" name="TextBox 14"/>
          <p:cNvSpPr txBox="1"/>
          <p:nvPr/>
        </p:nvSpPr>
        <p:spPr>
          <a:xfrm>
            <a:off x="274320" y="2697479"/>
            <a:ext cx="1463040" cy="731520"/>
          </a:xfrm>
          <a:prstGeom prst="rect">
            <a:avLst/>
          </a:prstGeom>
          <a:noFill/>
        </p:spPr>
        <p:txBody>
          <a:bodyPr wrap="square" lIns="60000" rIns="60000" tIns="40000" bIns="40000" anchor="ctr">
            <a:spAutoFit/>
          </a:bodyPr>
          <a:lstStyle/>
          <a:p>
            <a:pPr algn="l"/>
            <a:r>
              <a:rPr sz="1200" b="1">
                <a:solidFill>
                  <a:srgbClr val="9CA3AF"/>
                </a:solidFill>
                <a:latin typeface="Calibri"/>
              </a:rPr>
              <a:t>COLLECTE &amp; TRAITEMENT</a:t>
            </a:r>
          </a:p>
        </p:txBody>
      </p:sp>
      <p:sp>
        <p:nvSpPr>
          <p:cNvPr id="16" name="Rounded Rectangle 15"/>
          <p:cNvSpPr/>
          <p:nvPr/>
        </p:nvSpPr>
        <p:spPr>
          <a:xfrm>
            <a:off x="1828800" y="2560320"/>
            <a:ext cx="237744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256032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Scrapy spiders</a:t>
            </a:r>
          </a:p>
        </p:txBody>
      </p:sp>
      <p:sp>
        <p:nvSpPr>
          <p:cNvPr id="18" name="Rounded Rectangle 17"/>
          <p:cNvSpPr/>
          <p:nvPr/>
        </p:nvSpPr>
        <p:spPr>
          <a:xfrm>
            <a:off x="4343400" y="2560320"/>
            <a:ext cx="237744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56032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Celery Worker</a:t>
            </a:r>
          </a:p>
        </p:txBody>
      </p:sp>
      <p:sp>
        <p:nvSpPr>
          <p:cNvPr id="20" name="Rounded Rectangle 19"/>
          <p:cNvSpPr/>
          <p:nvPr/>
        </p:nvSpPr>
        <p:spPr>
          <a:xfrm>
            <a:off x="6858000" y="2560320"/>
            <a:ext cx="237744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256032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Pandas cleaner</a:t>
            </a:r>
          </a:p>
        </p:txBody>
      </p:sp>
      <p:sp>
        <p:nvSpPr>
          <p:cNvPr id="22" name="Rounded Rectangle 21"/>
          <p:cNvSpPr/>
          <p:nvPr/>
        </p:nvSpPr>
        <p:spPr>
          <a:xfrm>
            <a:off x="9372600" y="2560320"/>
            <a:ext cx="237744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256032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Celery Beat</a:t>
            </a:r>
          </a:p>
        </p:txBody>
      </p:sp>
      <p:sp>
        <p:nvSpPr>
          <p:cNvPr id="24" name="TextBox 23"/>
          <p:cNvSpPr txBox="1"/>
          <p:nvPr/>
        </p:nvSpPr>
        <p:spPr>
          <a:xfrm>
            <a:off x="274320" y="3794760"/>
            <a:ext cx="1463040" cy="731520"/>
          </a:xfrm>
          <a:prstGeom prst="rect">
            <a:avLst/>
          </a:prstGeom>
          <a:noFill/>
        </p:spPr>
        <p:txBody>
          <a:bodyPr wrap="square" lIns="60000" rIns="60000" tIns="40000" bIns="40000" anchor="ctr">
            <a:spAutoFit/>
          </a:bodyPr>
          <a:lstStyle/>
          <a:p>
            <a:pPr algn="l"/>
            <a:r>
              <a:rPr sz="1200" b="1">
                <a:solidFill>
                  <a:srgbClr val="9CA3AF"/>
                </a:solidFill>
                <a:latin typeface="Calibri"/>
              </a:rPr>
              <a:t>STOCKAGE &amp; API</a:t>
            </a:r>
          </a:p>
        </p:txBody>
      </p:sp>
      <p:sp>
        <p:nvSpPr>
          <p:cNvPr id="25" name="Rounded Rectangle 24"/>
          <p:cNvSpPr/>
          <p:nvPr/>
        </p:nvSpPr>
        <p:spPr>
          <a:xfrm>
            <a:off x="1828800" y="3657600"/>
            <a:ext cx="237744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0" y="365760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PostgreSQL</a:t>
            </a:r>
          </a:p>
        </p:txBody>
      </p:sp>
      <p:sp>
        <p:nvSpPr>
          <p:cNvPr id="27" name="Rounded Rectangle 26"/>
          <p:cNvSpPr/>
          <p:nvPr/>
        </p:nvSpPr>
        <p:spPr>
          <a:xfrm>
            <a:off x="4343400" y="3657600"/>
            <a:ext cx="237744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365760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Redis</a:t>
            </a:r>
          </a:p>
        </p:txBody>
      </p:sp>
      <p:sp>
        <p:nvSpPr>
          <p:cNvPr id="29" name="Rounded Rectangle 28"/>
          <p:cNvSpPr/>
          <p:nvPr/>
        </p:nvSpPr>
        <p:spPr>
          <a:xfrm>
            <a:off x="6858000" y="3657600"/>
            <a:ext cx="237744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365760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Flask API</a:t>
            </a:r>
          </a:p>
        </p:txBody>
      </p:sp>
      <p:sp>
        <p:nvSpPr>
          <p:cNvPr id="31" name="Rounded Rectangle 30"/>
          <p:cNvSpPr/>
          <p:nvPr/>
        </p:nvSpPr>
        <p:spPr>
          <a:xfrm>
            <a:off x="9372600" y="3657600"/>
            <a:ext cx="237744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365760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Airflow</a:t>
            </a:r>
          </a:p>
        </p:txBody>
      </p:sp>
      <p:sp>
        <p:nvSpPr>
          <p:cNvPr id="33" name="TextBox 32"/>
          <p:cNvSpPr txBox="1"/>
          <p:nvPr/>
        </p:nvSpPr>
        <p:spPr>
          <a:xfrm>
            <a:off x="274320" y="4892040"/>
            <a:ext cx="1463040" cy="731520"/>
          </a:xfrm>
          <a:prstGeom prst="rect">
            <a:avLst/>
          </a:prstGeom>
          <a:noFill/>
        </p:spPr>
        <p:txBody>
          <a:bodyPr wrap="square" lIns="60000" rIns="60000" tIns="40000" bIns="40000" anchor="ctr">
            <a:spAutoFit/>
          </a:bodyPr>
          <a:lstStyle/>
          <a:p>
            <a:pPr algn="l"/>
            <a:r>
              <a:rPr sz="1200" b="1">
                <a:solidFill>
                  <a:srgbClr val="9CA3AF"/>
                </a:solidFill>
                <a:latin typeface="Calibri"/>
              </a:rPr>
              <a:t>OBSERVABILITÉ &amp; UX</a:t>
            </a:r>
          </a:p>
        </p:txBody>
      </p:sp>
      <p:sp>
        <p:nvSpPr>
          <p:cNvPr id="34" name="Rounded Rectangle 33"/>
          <p:cNvSpPr/>
          <p:nvPr/>
        </p:nvSpPr>
        <p:spPr>
          <a:xfrm>
            <a:off x="1828800" y="4754880"/>
            <a:ext cx="2377440" cy="8229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0" y="475488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Prometheus</a:t>
            </a:r>
          </a:p>
        </p:txBody>
      </p:sp>
      <p:sp>
        <p:nvSpPr>
          <p:cNvPr id="36" name="Rounded Rectangle 35"/>
          <p:cNvSpPr/>
          <p:nvPr/>
        </p:nvSpPr>
        <p:spPr>
          <a:xfrm>
            <a:off x="4343400" y="4754880"/>
            <a:ext cx="2377440" cy="8229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43400" y="475488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Grafana</a:t>
            </a:r>
          </a:p>
        </p:txBody>
      </p:sp>
      <p:sp>
        <p:nvSpPr>
          <p:cNvPr id="38" name="Rounded Rectangle 37"/>
          <p:cNvSpPr/>
          <p:nvPr/>
        </p:nvSpPr>
        <p:spPr>
          <a:xfrm>
            <a:off x="6858000" y="4754880"/>
            <a:ext cx="2377440" cy="8229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75488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Chatbot Groq</a:t>
            </a:r>
          </a:p>
        </p:txBody>
      </p:sp>
      <p:sp>
        <p:nvSpPr>
          <p:cNvPr id="40" name="Rounded Rectangle 39"/>
          <p:cNvSpPr/>
          <p:nvPr/>
        </p:nvSpPr>
        <p:spPr>
          <a:xfrm>
            <a:off x="9372600" y="4754880"/>
            <a:ext cx="2377440" cy="8229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4754880"/>
            <a:ext cx="2377440" cy="822960"/>
          </a:xfrm>
          <a:prstGeom prst="rect">
            <a:avLst/>
          </a:prstGeom>
          <a:noFill/>
        </p:spPr>
        <p:txBody>
          <a:bodyPr wrap="square" lIns="60000" rIns="60000" tIns="40000" bIns="40000" anchor="ctr">
            <a:spAutoFit/>
          </a:bodyPr>
          <a:lstStyle/>
          <a:p>
            <a:pPr algn="ctr"/>
            <a:r>
              <a:rPr sz="1400" b="1">
                <a:solidFill>
                  <a:srgbClr val="FFFFFF"/>
                </a:solidFill>
                <a:latin typeface="Calibri"/>
              </a:rPr>
              <a:t>Web UI</a:t>
            </a:r>
          </a:p>
        </p:txBody>
      </p:sp>
      <p:cxnSp>
        <p:nvCxnSpPr>
          <p:cNvPr id="42" name="Connector 41"/>
          <p:cNvCxnSpPr/>
          <p:nvPr/>
        </p:nvCxnSpPr>
        <p:spPr>
          <a:xfrm>
            <a:off x="2743200" y="228600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57800" y="228600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772400" y="228600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287000" y="228600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743200" y="338328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57800" y="338328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772400" y="338328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287000" y="338328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743200" y="448056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257800" y="448056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772400" y="448056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287000" y="4480560"/>
            <a:ext cx="0" cy="274320"/>
          </a:xfrm>
          <a:prstGeom prst="line">
            <a:avLst/>
          </a:prstGeom>
          <a:ln w="19050">
            <a:solidFill>
              <a:srgbClr val="9CA3AF"/>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57200" y="5760720"/>
            <a:ext cx="1124712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5806440"/>
            <a:ext cx="10972800" cy="594360"/>
          </a:xfrm>
          <a:prstGeom prst="rect">
            <a:avLst/>
          </a:prstGeom>
          <a:noFill/>
        </p:spPr>
        <p:txBody>
          <a:bodyPr wrap="square" lIns="60000" rIns="60000" tIns="40000" bIns="40000" anchor="ctr">
            <a:spAutoFit/>
          </a:bodyPr>
          <a:lstStyle/>
          <a:p>
            <a:pPr algn="l"/>
            <a:r>
              <a:rPr sz="1300" b="0">
                <a:solidFill>
                  <a:srgbClr val="333333"/>
                </a:solidFill>
                <a:latin typeface="Calibri"/>
              </a:rPr>
              <a:t>Tout est containerisé. Un seul « docker compose up » démarre l'ensemble. Les services communiquent via un réseau Docker interne (noms de services, pas localhost).</a:t>
            </a:r>
          </a:p>
        </p:txBody>
      </p:sp>
      <p:sp>
        <p:nvSpPr>
          <p:cNvPr id="56" name="Rectangle 55"/>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58" name="TextBox 57"/>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Stack technologique</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Technologies utilisées par domaine</a:t>
            </a:r>
          </a:p>
        </p:txBody>
      </p:sp>
      <p:sp>
        <p:nvSpPr>
          <p:cNvPr id="6" name="Rectangle 5"/>
          <p:cNvSpPr/>
          <p:nvPr/>
        </p:nvSpPr>
        <p:spPr>
          <a:xfrm>
            <a:off x="457200" y="1371600"/>
            <a:ext cx="11247120" cy="5486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3840480" cy="548640"/>
          </a:xfrm>
          <a:prstGeom prst="rect">
            <a:avLst/>
          </a:prstGeom>
          <a:noFill/>
        </p:spPr>
        <p:txBody>
          <a:bodyPr wrap="square" lIns="60000" rIns="60000" tIns="40000" bIns="40000" anchor="ctr">
            <a:spAutoFit/>
          </a:bodyPr>
          <a:lstStyle/>
          <a:p>
            <a:pPr algn="l"/>
            <a:r>
              <a:rPr sz="1400" b="1">
                <a:solidFill>
                  <a:srgbClr val="FFFFFF"/>
                </a:solidFill>
                <a:latin typeface="Calibri"/>
              </a:rPr>
              <a:t>DOMAINE</a:t>
            </a:r>
          </a:p>
        </p:txBody>
      </p:sp>
      <p:sp>
        <p:nvSpPr>
          <p:cNvPr id="8" name="TextBox 7"/>
          <p:cNvSpPr txBox="1"/>
          <p:nvPr/>
        </p:nvSpPr>
        <p:spPr>
          <a:xfrm>
            <a:off x="4754880" y="1371600"/>
            <a:ext cx="6858000" cy="548640"/>
          </a:xfrm>
          <a:prstGeom prst="rect">
            <a:avLst/>
          </a:prstGeom>
          <a:noFill/>
        </p:spPr>
        <p:txBody>
          <a:bodyPr wrap="square" lIns="60000" rIns="60000" tIns="40000" bIns="40000" anchor="ctr">
            <a:spAutoFit/>
          </a:bodyPr>
          <a:lstStyle/>
          <a:p>
            <a:pPr algn="l"/>
            <a:r>
              <a:rPr sz="1400" b="1">
                <a:solidFill>
                  <a:srgbClr val="FFFFFF"/>
                </a:solidFill>
                <a:latin typeface="Calibri"/>
              </a:rPr>
              <a:t>TECHNOLOGIES</a:t>
            </a:r>
          </a:p>
        </p:txBody>
      </p:sp>
      <p:sp>
        <p:nvSpPr>
          <p:cNvPr id="9" name="Rectangle 8"/>
          <p:cNvSpPr/>
          <p:nvPr/>
        </p:nvSpPr>
        <p:spPr>
          <a:xfrm>
            <a:off x="457200" y="1920240"/>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Langage</a:t>
            </a:r>
          </a:p>
        </p:txBody>
      </p:sp>
      <p:sp>
        <p:nvSpPr>
          <p:cNvPr id="11" name="TextBox 10"/>
          <p:cNvSpPr txBox="1"/>
          <p:nvPr/>
        </p:nvSpPr>
        <p:spPr>
          <a:xfrm>
            <a:off x="4754880" y="1920240"/>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Python 3.12</a:t>
            </a:r>
          </a:p>
        </p:txBody>
      </p:sp>
      <p:sp>
        <p:nvSpPr>
          <p:cNvPr id="12" name="Rectangle 11"/>
          <p:cNvSpPr/>
          <p:nvPr/>
        </p:nvSpPr>
        <p:spPr>
          <a:xfrm>
            <a:off x="457200" y="2267712"/>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267712"/>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Web scraping</a:t>
            </a:r>
          </a:p>
        </p:txBody>
      </p:sp>
      <p:sp>
        <p:nvSpPr>
          <p:cNvPr id="14" name="TextBox 13"/>
          <p:cNvSpPr txBox="1"/>
          <p:nvPr/>
        </p:nvSpPr>
        <p:spPr>
          <a:xfrm>
            <a:off x="4754880" y="2267712"/>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Scrapy 2.12, Parsel, FlareSolverr</a:t>
            </a:r>
          </a:p>
        </p:txBody>
      </p:sp>
      <p:sp>
        <p:nvSpPr>
          <p:cNvPr id="15" name="Rectangle 14"/>
          <p:cNvSpPr/>
          <p:nvPr/>
        </p:nvSpPr>
        <p:spPr>
          <a:xfrm>
            <a:off x="457200" y="2615184"/>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615184"/>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Nettoyage</a:t>
            </a:r>
          </a:p>
        </p:txBody>
      </p:sp>
      <p:sp>
        <p:nvSpPr>
          <p:cNvPr id="17" name="TextBox 16"/>
          <p:cNvSpPr txBox="1"/>
          <p:nvPr/>
        </p:nvSpPr>
        <p:spPr>
          <a:xfrm>
            <a:off x="4754880" y="2615184"/>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Pandas 2.2.3</a:t>
            </a:r>
          </a:p>
        </p:txBody>
      </p:sp>
      <p:sp>
        <p:nvSpPr>
          <p:cNvPr id="18" name="Rectangle 17"/>
          <p:cNvSpPr/>
          <p:nvPr/>
        </p:nvSpPr>
        <p:spPr>
          <a:xfrm>
            <a:off x="457200" y="2962656"/>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62656"/>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Base de données</a:t>
            </a:r>
          </a:p>
        </p:txBody>
      </p:sp>
      <p:sp>
        <p:nvSpPr>
          <p:cNvPr id="20" name="TextBox 19"/>
          <p:cNvSpPr txBox="1"/>
          <p:nvPr/>
        </p:nvSpPr>
        <p:spPr>
          <a:xfrm>
            <a:off x="4754880" y="2962656"/>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PostgreSQL 16, SQLAlchemy 2, Alembic</a:t>
            </a:r>
          </a:p>
        </p:txBody>
      </p:sp>
      <p:sp>
        <p:nvSpPr>
          <p:cNvPr id="21" name="Rectangle 20"/>
          <p:cNvSpPr/>
          <p:nvPr/>
        </p:nvSpPr>
        <p:spPr>
          <a:xfrm>
            <a:off x="457200" y="3310128"/>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310128"/>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API web</a:t>
            </a:r>
          </a:p>
        </p:txBody>
      </p:sp>
      <p:sp>
        <p:nvSpPr>
          <p:cNvPr id="23" name="TextBox 22"/>
          <p:cNvSpPr txBox="1"/>
          <p:nvPr/>
        </p:nvSpPr>
        <p:spPr>
          <a:xfrm>
            <a:off x="4754880" y="3310128"/>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Flask 3, Flasgger (Swagger), Jinja2</a:t>
            </a:r>
          </a:p>
        </p:txBody>
      </p:sp>
      <p:sp>
        <p:nvSpPr>
          <p:cNvPr id="24" name="Rectangle 23"/>
          <p:cNvSpPr/>
          <p:nvPr/>
        </p:nvSpPr>
        <p:spPr>
          <a:xfrm>
            <a:off x="457200" y="3657600"/>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657600"/>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Authentification</a:t>
            </a:r>
          </a:p>
        </p:txBody>
      </p:sp>
      <p:sp>
        <p:nvSpPr>
          <p:cNvPr id="26" name="TextBox 25"/>
          <p:cNvSpPr txBox="1"/>
          <p:nvPr/>
        </p:nvSpPr>
        <p:spPr>
          <a:xfrm>
            <a:off x="4754880" y="3657600"/>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Flask-JWT-Extended, bcrypt</a:t>
            </a:r>
          </a:p>
        </p:txBody>
      </p:sp>
      <p:sp>
        <p:nvSpPr>
          <p:cNvPr id="27" name="Rectangle 26"/>
          <p:cNvSpPr/>
          <p:nvPr/>
        </p:nvSpPr>
        <p:spPr>
          <a:xfrm>
            <a:off x="457200" y="4005072"/>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05072"/>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Tâches async</a:t>
            </a:r>
          </a:p>
        </p:txBody>
      </p:sp>
      <p:sp>
        <p:nvSpPr>
          <p:cNvPr id="29" name="TextBox 28"/>
          <p:cNvSpPr txBox="1"/>
          <p:nvPr/>
        </p:nvSpPr>
        <p:spPr>
          <a:xfrm>
            <a:off x="4754880" y="4005072"/>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Celery 5.4, Redis 7</a:t>
            </a:r>
          </a:p>
        </p:txBody>
      </p:sp>
      <p:sp>
        <p:nvSpPr>
          <p:cNvPr id="30" name="Rectangle 29"/>
          <p:cNvSpPr/>
          <p:nvPr/>
        </p:nvSpPr>
        <p:spPr>
          <a:xfrm>
            <a:off x="457200" y="4352544"/>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352544"/>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Orchestration</a:t>
            </a:r>
          </a:p>
        </p:txBody>
      </p:sp>
      <p:sp>
        <p:nvSpPr>
          <p:cNvPr id="32" name="TextBox 31"/>
          <p:cNvSpPr txBox="1"/>
          <p:nvPr/>
        </p:nvSpPr>
        <p:spPr>
          <a:xfrm>
            <a:off x="4754880" y="4352544"/>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Apache Airflow 2.9</a:t>
            </a:r>
          </a:p>
        </p:txBody>
      </p:sp>
      <p:sp>
        <p:nvSpPr>
          <p:cNvPr id="33" name="Rectangle 32"/>
          <p:cNvSpPr/>
          <p:nvPr/>
        </p:nvSpPr>
        <p:spPr>
          <a:xfrm>
            <a:off x="457200" y="4700016"/>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700016"/>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Intelligence artificielle</a:t>
            </a:r>
          </a:p>
        </p:txBody>
      </p:sp>
      <p:sp>
        <p:nvSpPr>
          <p:cNvPr id="35" name="TextBox 34"/>
          <p:cNvSpPr txBox="1"/>
          <p:nvPr/>
        </p:nvSpPr>
        <p:spPr>
          <a:xfrm>
            <a:off x="4754880" y="4700016"/>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Groq API + Llama 3.3 70B</a:t>
            </a:r>
          </a:p>
        </p:txBody>
      </p:sp>
      <p:sp>
        <p:nvSpPr>
          <p:cNvPr id="36" name="Rectangle 35"/>
          <p:cNvSpPr/>
          <p:nvPr/>
        </p:nvSpPr>
        <p:spPr>
          <a:xfrm>
            <a:off x="457200" y="5047488"/>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047488"/>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Monitoring</a:t>
            </a:r>
          </a:p>
        </p:txBody>
      </p:sp>
      <p:sp>
        <p:nvSpPr>
          <p:cNvPr id="38" name="TextBox 37"/>
          <p:cNvSpPr txBox="1"/>
          <p:nvPr/>
        </p:nvSpPr>
        <p:spPr>
          <a:xfrm>
            <a:off x="4754880" y="5047488"/>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Prometheus, Grafana</a:t>
            </a:r>
          </a:p>
        </p:txBody>
      </p:sp>
      <p:sp>
        <p:nvSpPr>
          <p:cNvPr id="39" name="Rectangle 38"/>
          <p:cNvSpPr/>
          <p:nvPr/>
        </p:nvSpPr>
        <p:spPr>
          <a:xfrm>
            <a:off x="457200" y="5394960"/>
            <a:ext cx="11247120" cy="34747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394960"/>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Tests</a:t>
            </a:r>
          </a:p>
        </p:txBody>
      </p:sp>
      <p:sp>
        <p:nvSpPr>
          <p:cNvPr id="41" name="TextBox 40"/>
          <p:cNvSpPr txBox="1"/>
          <p:nvPr/>
        </p:nvSpPr>
        <p:spPr>
          <a:xfrm>
            <a:off x="4754880" y="5394960"/>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pytest (42 tests)</a:t>
            </a:r>
          </a:p>
        </p:txBody>
      </p:sp>
      <p:sp>
        <p:nvSpPr>
          <p:cNvPr id="42" name="Rectangle 41"/>
          <p:cNvSpPr/>
          <p:nvPr/>
        </p:nvSpPr>
        <p:spPr>
          <a:xfrm>
            <a:off x="457200" y="5742431"/>
            <a:ext cx="112471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742431"/>
            <a:ext cx="3840480" cy="347472"/>
          </a:xfrm>
          <a:prstGeom prst="rect">
            <a:avLst/>
          </a:prstGeom>
          <a:noFill/>
        </p:spPr>
        <p:txBody>
          <a:bodyPr wrap="square" lIns="60000" rIns="60000" tIns="40000" bIns="40000" anchor="ctr">
            <a:spAutoFit/>
          </a:bodyPr>
          <a:lstStyle/>
          <a:p>
            <a:pPr algn="l"/>
            <a:r>
              <a:rPr sz="1200" b="1">
                <a:solidFill>
                  <a:srgbClr val="1E3A8A"/>
                </a:solidFill>
                <a:latin typeface="Calibri"/>
              </a:rPr>
              <a:t>Infrastructure</a:t>
            </a:r>
          </a:p>
        </p:txBody>
      </p:sp>
      <p:sp>
        <p:nvSpPr>
          <p:cNvPr id="44" name="TextBox 43"/>
          <p:cNvSpPr txBox="1"/>
          <p:nvPr/>
        </p:nvSpPr>
        <p:spPr>
          <a:xfrm>
            <a:off x="4754880" y="5742431"/>
            <a:ext cx="6858000" cy="347472"/>
          </a:xfrm>
          <a:prstGeom prst="rect">
            <a:avLst/>
          </a:prstGeom>
          <a:noFill/>
        </p:spPr>
        <p:txBody>
          <a:bodyPr wrap="square" lIns="60000" rIns="60000" tIns="40000" bIns="40000" anchor="ctr">
            <a:spAutoFit/>
          </a:bodyPr>
          <a:lstStyle/>
          <a:p>
            <a:pPr algn="l"/>
            <a:r>
              <a:rPr sz="1200" b="0">
                <a:solidFill>
                  <a:srgbClr val="333333"/>
                </a:solidFill>
                <a:latin typeface="Calibri"/>
              </a:rPr>
              <a:t>Docker, Docker Compose</a:t>
            </a:r>
          </a:p>
        </p:txBody>
      </p:sp>
      <p:sp>
        <p:nvSpPr>
          <p:cNvPr id="45" name="Rectangle 44"/>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47" name="TextBox 46"/>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Pipeline de données</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DAG Airflow — exécution quotidienne</a:t>
            </a:r>
          </a:p>
        </p:txBody>
      </p:sp>
      <p:sp>
        <p:nvSpPr>
          <p:cNvPr id="6" name="Rounded Rectangle 5"/>
          <p:cNvSpPr/>
          <p:nvPr/>
        </p:nvSpPr>
        <p:spPr>
          <a:xfrm>
            <a:off x="914400" y="2286000"/>
            <a:ext cx="228600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scrape_jumia</a:t>
            </a:r>
          </a:p>
        </p:txBody>
      </p:sp>
      <p:sp>
        <p:nvSpPr>
          <p:cNvPr id="8" name="TextBox 7"/>
          <p:cNvSpPr txBox="1"/>
          <p:nvPr/>
        </p:nvSpPr>
        <p:spPr>
          <a:xfrm>
            <a:off x="914400" y="274320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Scrapy + FlareSolverr</a:t>
            </a:r>
          </a:p>
        </p:txBody>
      </p:sp>
      <p:sp>
        <p:nvSpPr>
          <p:cNvPr id="9" name="Rounded Rectangle 8"/>
          <p:cNvSpPr/>
          <p:nvPr/>
        </p:nvSpPr>
        <p:spPr>
          <a:xfrm>
            <a:off x="914400" y="3474720"/>
            <a:ext cx="228600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39"/>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scrape_djokstore</a:t>
            </a:r>
          </a:p>
        </p:txBody>
      </p:sp>
      <p:sp>
        <p:nvSpPr>
          <p:cNvPr id="11" name="TextBox 10"/>
          <p:cNvSpPr txBox="1"/>
          <p:nvPr/>
        </p:nvSpPr>
        <p:spPr>
          <a:xfrm>
            <a:off x="914400" y="393192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Scrapy</a:t>
            </a:r>
          </a:p>
        </p:txBody>
      </p:sp>
      <p:sp>
        <p:nvSpPr>
          <p:cNvPr id="12" name="Rounded Rectangle 11"/>
          <p:cNvSpPr/>
          <p:nvPr/>
        </p:nvSpPr>
        <p:spPr>
          <a:xfrm>
            <a:off x="914400" y="4663440"/>
            <a:ext cx="2286000" cy="82296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59"/>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scrape_coinafrique</a:t>
            </a:r>
          </a:p>
        </p:txBody>
      </p:sp>
      <p:sp>
        <p:nvSpPr>
          <p:cNvPr id="14" name="TextBox 13"/>
          <p:cNvSpPr txBox="1"/>
          <p:nvPr/>
        </p:nvSpPr>
        <p:spPr>
          <a:xfrm>
            <a:off x="914400" y="512064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Scrapy</a:t>
            </a:r>
          </a:p>
        </p:txBody>
      </p:sp>
      <p:sp>
        <p:nvSpPr>
          <p:cNvPr id="15" name="Rounded Rectangle 14"/>
          <p:cNvSpPr/>
          <p:nvPr/>
        </p:nvSpPr>
        <p:spPr>
          <a:xfrm>
            <a:off x="4114800" y="3474720"/>
            <a:ext cx="2286000" cy="8229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3520439"/>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clean_and_insert</a:t>
            </a:r>
          </a:p>
        </p:txBody>
      </p:sp>
      <p:sp>
        <p:nvSpPr>
          <p:cNvPr id="17" name="TextBox 16"/>
          <p:cNvSpPr txBox="1"/>
          <p:nvPr/>
        </p:nvSpPr>
        <p:spPr>
          <a:xfrm>
            <a:off x="4114800" y="393192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Pandas + SQLAlchemy</a:t>
            </a:r>
          </a:p>
        </p:txBody>
      </p:sp>
      <p:sp>
        <p:nvSpPr>
          <p:cNvPr id="18" name="Rounded Rectangle 17"/>
          <p:cNvSpPr/>
          <p:nvPr/>
        </p:nvSpPr>
        <p:spPr>
          <a:xfrm>
            <a:off x="6858000" y="3474720"/>
            <a:ext cx="228600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520439"/>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check_price_drops</a:t>
            </a:r>
          </a:p>
        </p:txBody>
      </p:sp>
      <p:sp>
        <p:nvSpPr>
          <p:cNvPr id="20" name="TextBox 19"/>
          <p:cNvSpPr txBox="1"/>
          <p:nvPr/>
        </p:nvSpPr>
        <p:spPr>
          <a:xfrm>
            <a:off x="6858000" y="393192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Détection baisses</a:t>
            </a:r>
          </a:p>
        </p:txBody>
      </p:sp>
      <p:sp>
        <p:nvSpPr>
          <p:cNvPr id="21" name="Rounded Rectangle 20"/>
          <p:cNvSpPr/>
          <p:nvPr/>
        </p:nvSpPr>
        <p:spPr>
          <a:xfrm>
            <a:off x="9144000" y="2560320"/>
            <a:ext cx="228600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2606039"/>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check_price_alerts</a:t>
            </a:r>
          </a:p>
        </p:txBody>
      </p:sp>
      <p:sp>
        <p:nvSpPr>
          <p:cNvPr id="23" name="TextBox 22"/>
          <p:cNvSpPr txBox="1"/>
          <p:nvPr/>
        </p:nvSpPr>
        <p:spPr>
          <a:xfrm>
            <a:off x="9144000" y="301752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Email SMTP</a:t>
            </a:r>
          </a:p>
        </p:txBody>
      </p:sp>
      <p:sp>
        <p:nvSpPr>
          <p:cNvPr id="24" name="Rounded Rectangle 23"/>
          <p:cNvSpPr/>
          <p:nvPr/>
        </p:nvSpPr>
        <p:spPr>
          <a:xfrm>
            <a:off x="9144000" y="4389120"/>
            <a:ext cx="2286000" cy="82296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4434840"/>
            <a:ext cx="2286000" cy="457200"/>
          </a:xfrm>
          <a:prstGeom prst="rect">
            <a:avLst/>
          </a:prstGeom>
          <a:noFill/>
        </p:spPr>
        <p:txBody>
          <a:bodyPr wrap="square" lIns="60000" rIns="60000" tIns="40000" bIns="40000" anchor="ctr">
            <a:spAutoFit/>
          </a:bodyPr>
          <a:lstStyle/>
          <a:p>
            <a:pPr algn="ctr"/>
            <a:r>
              <a:rPr sz="1300" b="1">
                <a:solidFill>
                  <a:srgbClr val="FFFFFF"/>
                </a:solidFill>
                <a:latin typeface="Calibri"/>
              </a:rPr>
              <a:t>match_cross_source</a:t>
            </a:r>
          </a:p>
        </p:txBody>
      </p:sp>
      <p:sp>
        <p:nvSpPr>
          <p:cNvPr id="26" name="TextBox 25"/>
          <p:cNvSpPr txBox="1"/>
          <p:nvPr/>
        </p:nvSpPr>
        <p:spPr>
          <a:xfrm>
            <a:off x="9144000" y="4846320"/>
            <a:ext cx="2286000" cy="365760"/>
          </a:xfrm>
          <a:prstGeom prst="rect">
            <a:avLst/>
          </a:prstGeom>
          <a:noFill/>
        </p:spPr>
        <p:txBody>
          <a:bodyPr wrap="square" lIns="60000" rIns="60000" tIns="40000" bIns="40000" anchor="ctr">
            <a:spAutoFit/>
          </a:bodyPr>
          <a:lstStyle/>
          <a:p>
            <a:pPr algn="ctr"/>
            <a:r>
              <a:rPr sz="1000" b="0">
                <a:solidFill>
                  <a:srgbClr val="FFFFFF"/>
                </a:solidFill>
                <a:latin typeface="Calibri"/>
              </a:rPr>
              <a:t>Fuzzy matching</a:t>
            </a:r>
          </a:p>
        </p:txBody>
      </p:sp>
      <p:cxnSp>
        <p:nvCxnSpPr>
          <p:cNvPr id="27" name="Connector 26"/>
          <p:cNvCxnSpPr/>
          <p:nvPr/>
        </p:nvCxnSpPr>
        <p:spPr>
          <a:xfrm>
            <a:off x="3200400" y="2697480"/>
            <a:ext cx="914400" cy="118872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200400" y="3886200"/>
            <a:ext cx="914400" cy="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00400" y="3886200"/>
            <a:ext cx="914400" cy="118872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400800" y="3886200"/>
            <a:ext cx="457200" cy="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144000" y="2971800"/>
            <a:ext cx="0" cy="91440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44000" y="3886200"/>
            <a:ext cx="0" cy="914400"/>
          </a:xfrm>
          <a:prstGeom prst="line">
            <a:avLst/>
          </a:prstGeom>
          <a:ln w="25400">
            <a:solidFill>
              <a:srgbClr val="9CA3A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57200" y="5852160"/>
            <a:ext cx="5486400" cy="594360"/>
          </a:xfrm>
          <a:prstGeom prst="round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852160"/>
            <a:ext cx="5303520" cy="594360"/>
          </a:xfrm>
          <a:prstGeom prst="rect">
            <a:avLst/>
          </a:prstGeom>
          <a:noFill/>
        </p:spPr>
        <p:txBody>
          <a:bodyPr wrap="square" lIns="60000" rIns="60000" tIns="40000" bIns="40000" anchor="ctr">
            <a:spAutoFit/>
          </a:bodyPr>
          <a:lstStyle/>
          <a:p>
            <a:pPr algn="l"/>
            <a:r>
              <a:rPr sz="1300" b="1">
                <a:solidFill>
                  <a:srgbClr val="1E3A8A"/>
                </a:solidFill>
                <a:latin typeface="Calibri"/>
              </a:rPr>
              <a:t>Airflow : scraping quotidien + weekly_digest (lundi 8 h)</a:t>
            </a:r>
          </a:p>
        </p:txBody>
      </p:sp>
      <p:sp>
        <p:nvSpPr>
          <p:cNvPr id="35" name="Rounded Rectangle 34"/>
          <p:cNvSpPr/>
          <p:nvPr/>
        </p:nvSpPr>
        <p:spPr>
          <a:xfrm>
            <a:off x="6217920" y="5852160"/>
            <a:ext cx="5486400" cy="594360"/>
          </a:xfrm>
          <a:prstGeom prst="round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5852160"/>
            <a:ext cx="5303520" cy="594360"/>
          </a:xfrm>
          <a:prstGeom prst="rect">
            <a:avLst/>
          </a:prstGeom>
          <a:noFill/>
        </p:spPr>
        <p:txBody>
          <a:bodyPr wrap="square" lIns="60000" rIns="60000" tIns="40000" bIns="40000" anchor="ctr">
            <a:spAutoFit/>
          </a:bodyPr>
          <a:lstStyle/>
          <a:p>
            <a:pPr algn="l"/>
            <a:r>
              <a:rPr sz="1300" b="1">
                <a:solidFill>
                  <a:srgbClr val="F97316"/>
                </a:solidFill>
                <a:latin typeface="Calibri"/>
              </a:rPr>
              <a:t>Celery Beat : check chutes majeures toutes les 5 min</a:t>
            </a:r>
          </a:p>
        </p:txBody>
      </p:sp>
      <p:sp>
        <p:nvSpPr>
          <p:cNvPr id="37" name="Rectangle 36"/>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9" name="TextBox 38"/>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Base de données</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8 tables PostgreSQL avec contraintes et vues</a:t>
            </a:r>
          </a:p>
        </p:txBody>
      </p:sp>
      <p:sp>
        <p:nvSpPr>
          <p:cNvPr id="6" name="Rectangle 5"/>
          <p:cNvSpPr/>
          <p:nvPr/>
        </p:nvSpPr>
        <p:spPr>
          <a:xfrm>
            <a:off x="4846320" y="2834640"/>
            <a:ext cx="2468880" cy="365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0" y="2834640"/>
            <a:ext cx="2468880" cy="365760"/>
          </a:xfrm>
          <a:prstGeom prst="rect">
            <a:avLst/>
          </a:prstGeom>
          <a:noFill/>
        </p:spPr>
        <p:txBody>
          <a:bodyPr wrap="square" lIns="60000" rIns="60000" tIns="40000" bIns="40000" anchor="ctr">
            <a:spAutoFit/>
          </a:bodyPr>
          <a:lstStyle/>
          <a:p>
            <a:pPr algn="ctr"/>
            <a:r>
              <a:rPr sz="1200" b="1">
                <a:solidFill>
                  <a:srgbClr val="FFFFFF"/>
                </a:solidFill>
                <a:latin typeface="Calibri"/>
              </a:rPr>
              <a:t>products</a:t>
            </a:r>
          </a:p>
        </p:txBody>
      </p:sp>
      <p:sp>
        <p:nvSpPr>
          <p:cNvPr id="8" name="Rectangle 7"/>
          <p:cNvSpPr/>
          <p:nvPr/>
        </p:nvSpPr>
        <p:spPr>
          <a:xfrm>
            <a:off x="4846320" y="3200400"/>
            <a:ext cx="2468880" cy="1463040"/>
          </a:xfrm>
          <a:prstGeom prst="rect">
            <a:avLst/>
          </a:prstGeom>
          <a:solidFill>
            <a:srgbClr val="DBEAFE"/>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3218688"/>
            <a:ext cx="2377440" cy="141732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source</a:t>
            </a:r>
          </a:p>
          <a:p>
            <a:pPr algn="l">
              <a:spcAft>
                <a:spcPts val="0"/>
              </a:spcAft>
            </a:pPr>
            <a:r>
              <a:rPr sz="900">
                <a:solidFill>
                  <a:srgbClr val="333333"/>
                </a:solidFill>
                <a:latin typeface="Consolas"/>
              </a:rPr>
              <a:t>source_product_id</a:t>
            </a:r>
          </a:p>
          <a:p>
            <a:pPr algn="l">
              <a:spcAft>
                <a:spcPts val="0"/>
              </a:spcAft>
            </a:pPr>
            <a:r>
              <a:rPr sz="900">
                <a:solidFill>
                  <a:srgbClr val="333333"/>
                </a:solidFill>
                <a:latin typeface="Consolas"/>
              </a:rPr>
              <a:t>name</a:t>
            </a:r>
          </a:p>
          <a:p>
            <a:pPr algn="l">
              <a:spcAft>
                <a:spcPts val="0"/>
              </a:spcAft>
            </a:pPr>
            <a:r>
              <a:rPr sz="900">
                <a:solidFill>
                  <a:srgbClr val="333333"/>
                </a:solidFill>
                <a:latin typeface="Consolas"/>
              </a:rPr>
              <a:t>category</a:t>
            </a:r>
          </a:p>
          <a:p>
            <a:pPr algn="l">
              <a:spcAft>
                <a:spcPts val="0"/>
              </a:spcAft>
            </a:pPr>
            <a:r>
              <a:rPr sz="900">
                <a:solidFill>
                  <a:srgbClr val="333333"/>
                </a:solidFill>
                <a:latin typeface="Consolas"/>
              </a:rPr>
              <a:t>image_url</a:t>
            </a:r>
          </a:p>
          <a:p>
            <a:pPr algn="l">
              <a:spcAft>
                <a:spcPts val="0"/>
              </a:spcAft>
            </a:pPr>
            <a:r>
              <a:rPr sz="900">
                <a:solidFill>
                  <a:srgbClr val="333333"/>
                </a:solidFill>
                <a:latin typeface="Consolas"/>
              </a:rPr>
              <a:t>product_url</a:t>
            </a:r>
          </a:p>
          <a:p>
            <a:pPr algn="l">
              <a:spcAft>
                <a:spcPts val="0"/>
              </a:spcAft>
            </a:pPr>
            <a:r>
              <a:rPr sz="900">
                <a:solidFill>
                  <a:srgbClr val="333333"/>
                </a:solidFill>
                <a:latin typeface="Consolas"/>
              </a:rPr>
              <a:t>currency</a:t>
            </a:r>
          </a:p>
          <a:p>
            <a:pPr algn="l">
              <a:spcAft>
                <a:spcPts val="0"/>
              </a:spcAft>
            </a:pPr>
            <a:r>
              <a:rPr sz="900">
                <a:solidFill>
                  <a:srgbClr val="333333"/>
                </a:solidFill>
                <a:latin typeface="Consolas"/>
              </a:rPr>
              <a:t>UK(source, src_id)</a:t>
            </a:r>
          </a:p>
        </p:txBody>
      </p:sp>
      <p:sp>
        <p:nvSpPr>
          <p:cNvPr id="10" name="Rectangle 9"/>
          <p:cNvSpPr/>
          <p:nvPr/>
        </p:nvSpPr>
        <p:spPr>
          <a:xfrm>
            <a:off x="8229600" y="2834640"/>
            <a:ext cx="2377440" cy="3657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834640"/>
            <a:ext cx="2377440" cy="365760"/>
          </a:xfrm>
          <a:prstGeom prst="rect">
            <a:avLst/>
          </a:prstGeom>
          <a:noFill/>
        </p:spPr>
        <p:txBody>
          <a:bodyPr wrap="square" lIns="60000" rIns="60000" tIns="40000" bIns="40000" anchor="ctr">
            <a:spAutoFit/>
          </a:bodyPr>
          <a:lstStyle/>
          <a:p>
            <a:pPr algn="ctr"/>
            <a:r>
              <a:rPr sz="1200" b="1">
                <a:solidFill>
                  <a:srgbClr val="FFFFFF"/>
                </a:solidFill>
                <a:latin typeface="Calibri"/>
              </a:rPr>
              <a:t>price_history</a:t>
            </a:r>
          </a:p>
        </p:txBody>
      </p:sp>
      <p:sp>
        <p:nvSpPr>
          <p:cNvPr id="12" name="Rectangle 11"/>
          <p:cNvSpPr/>
          <p:nvPr/>
        </p:nvSpPr>
        <p:spPr>
          <a:xfrm>
            <a:off x="8229600" y="3200400"/>
            <a:ext cx="2377440" cy="1463040"/>
          </a:xfrm>
          <a:prstGeom prst="rect">
            <a:avLst/>
          </a:prstGeom>
          <a:solidFill>
            <a:srgbClr val="FFEDD5"/>
          </a:solidFill>
          <a:ln w="127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218688"/>
            <a:ext cx="2286000" cy="141732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FK product_id</a:t>
            </a:r>
          </a:p>
          <a:p>
            <a:pPr algn="l">
              <a:spcAft>
                <a:spcPts val="0"/>
              </a:spcAft>
            </a:pPr>
            <a:r>
              <a:rPr sz="900">
                <a:solidFill>
                  <a:srgbClr val="333333"/>
                </a:solidFill>
                <a:latin typeface="Consolas"/>
              </a:rPr>
              <a:t>price</a:t>
            </a:r>
          </a:p>
          <a:p>
            <a:pPr algn="l">
              <a:spcAft>
                <a:spcPts val="0"/>
              </a:spcAft>
            </a:pPr>
            <a:r>
              <a:rPr sz="900">
                <a:solidFill>
                  <a:srgbClr val="333333"/>
                </a:solidFill>
                <a:latin typeface="Consolas"/>
              </a:rPr>
              <a:t>old_price</a:t>
            </a:r>
          </a:p>
          <a:p>
            <a:pPr algn="l">
              <a:spcAft>
                <a:spcPts val="0"/>
              </a:spcAft>
            </a:pPr>
            <a:r>
              <a:rPr sz="900">
                <a:solidFill>
                  <a:srgbClr val="333333"/>
                </a:solidFill>
                <a:latin typeface="Consolas"/>
              </a:rPr>
              <a:t>discount_pct</a:t>
            </a:r>
          </a:p>
          <a:p>
            <a:pPr algn="l">
              <a:spcAft>
                <a:spcPts val="0"/>
              </a:spcAft>
            </a:pPr>
            <a:r>
              <a:rPr sz="900">
                <a:solidFill>
                  <a:srgbClr val="333333"/>
                </a:solidFill>
                <a:latin typeface="Consolas"/>
              </a:rPr>
              <a:t>reviews_count</a:t>
            </a:r>
          </a:p>
          <a:p>
            <a:pPr algn="l">
              <a:spcAft>
                <a:spcPts val="0"/>
              </a:spcAft>
            </a:pPr>
            <a:r>
              <a:rPr sz="900">
                <a:solidFill>
                  <a:srgbClr val="333333"/>
                </a:solidFill>
                <a:latin typeface="Consolas"/>
              </a:rPr>
              <a:t>scraped_at</a:t>
            </a:r>
          </a:p>
          <a:p>
            <a:pPr algn="l">
              <a:spcAft>
                <a:spcPts val="0"/>
              </a:spcAft>
            </a:pPr>
            <a:r>
              <a:rPr sz="900">
                <a:solidFill>
                  <a:srgbClr val="333333"/>
                </a:solidFill>
                <a:latin typeface="Consolas"/>
              </a:rPr>
              <a:t>CHECK price &gt; 0</a:t>
            </a:r>
          </a:p>
          <a:p>
            <a:pPr algn="l">
              <a:spcAft>
                <a:spcPts val="0"/>
              </a:spcAft>
            </a:pPr>
            <a:r>
              <a:rPr sz="900">
                <a:solidFill>
                  <a:srgbClr val="333333"/>
                </a:solidFill>
                <a:latin typeface="Consolas"/>
              </a:rPr>
              <a:t>13 600 lignes</a:t>
            </a:r>
          </a:p>
        </p:txBody>
      </p:sp>
      <p:sp>
        <p:nvSpPr>
          <p:cNvPr id="14" name="Rectangle 13"/>
          <p:cNvSpPr/>
          <p:nvPr/>
        </p:nvSpPr>
        <p:spPr>
          <a:xfrm>
            <a:off x="8686800" y="1280160"/>
            <a:ext cx="2103120" cy="365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1280160"/>
            <a:ext cx="2103120" cy="365760"/>
          </a:xfrm>
          <a:prstGeom prst="rect">
            <a:avLst/>
          </a:prstGeom>
          <a:noFill/>
        </p:spPr>
        <p:txBody>
          <a:bodyPr wrap="square" lIns="60000" rIns="60000" tIns="40000" bIns="40000" anchor="ctr">
            <a:spAutoFit/>
          </a:bodyPr>
          <a:lstStyle/>
          <a:p>
            <a:pPr algn="ctr"/>
            <a:r>
              <a:rPr sz="1200" b="1">
                <a:solidFill>
                  <a:srgbClr val="FFFFFF"/>
                </a:solidFill>
                <a:latin typeface="Calibri"/>
              </a:rPr>
              <a:t>product_matches</a:t>
            </a:r>
          </a:p>
        </p:txBody>
      </p:sp>
      <p:sp>
        <p:nvSpPr>
          <p:cNvPr id="16" name="Rectangle 15"/>
          <p:cNvSpPr/>
          <p:nvPr/>
        </p:nvSpPr>
        <p:spPr>
          <a:xfrm>
            <a:off x="8686800" y="1645919"/>
            <a:ext cx="2103120" cy="822960"/>
          </a:xfrm>
          <a:prstGeom prst="rect">
            <a:avLst/>
          </a:prstGeom>
          <a:solidFill>
            <a:srgbClr val="DBEAFE"/>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1664207"/>
            <a:ext cx="2011679" cy="77724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FK product_a_id</a:t>
            </a:r>
          </a:p>
          <a:p>
            <a:pPr algn="l">
              <a:spcAft>
                <a:spcPts val="0"/>
              </a:spcAft>
            </a:pPr>
            <a:r>
              <a:rPr sz="900">
                <a:solidFill>
                  <a:srgbClr val="333333"/>
                </a:solidFill>
                <a:latin typeface="Consolas"/>
              </a:rPr>
              <a:t>FK product_b_id</a:t>
            </a:r>
          </a:p>
          <a:p>
            <a:pPr algn="l">
              <a:spcAft>
                <a:spcPts val="0"/>
              </a:spcAft>
            </a:pPr>
            <a:r>
              <a:rPr sz="900">
                <a:solidFill>
                  <a:srgbClr val="333333"/>
                </a:solidFill>
                <a:latin typeface="Consolas"/>
              </a:rPr>
              <a:t>similarity_score</a:t>
            </a:r>
          </a:p>
          <a:p>
            <a:pPr algn="l">
              <a:spcAft>
                <a:spcPts val="0"/>
              </a:spcAft>
            </a:pPr>
            <a:r>
              <a:rPr sz="900">
                <a:solidFill>
                  <a:srgbClr val="333333"/>
                </a:solidFill>
                <a:latin typeface="Consolas"/>
              </a:rPr>
              <a:t>matched_at</a:t>
            </a:r>
          </a:p>
        </p:txBody>
      </p:sp>
      <p:sp>
        <p:nvSpPr>
          <p:cNvPr id="18" name="Rectangle 17"/>
          <p:cNvSpPr/>
          <p:nvPr/>
        </p:nvSpPr>
        <p:spPr>
          <a:xfrm>
            <a:off x="457200" y="1280160"/>
            <a:ext cx="2286000" cy="365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280160"/>
            <a:ext cx="2286000" cy="365760"/>
          </a:xfrm>
          <a:prstGeom prst="rect">
            <a:avLst/>
          </a:prstGeom>
          <a:noFill/>
        </p:spPr>
        <p:txBody>
          <a:bodyPr wrap="square" lIns="60000" rIns="60000" tIns="40000" bIns="40000" anchor="ctr">
            <a:spAutoFit/>
          </a:bodyPr>
          <a:lstStyle/>
          <a:p>
            <a:pPr algn="ctr"/>
            <a:r>
              <a:rPr sz="1200" b="1">
                <a:solidFill>
                  <a:srgbClr val="FFFFFF"/>
                </a:solidFill>
                <a:latin typeface="Calibri"/>
              </a:rPr>
              <a:t>users</a:t>
            </a:r>
          </a:p>
        </p:txBody>
      </p:sp>
      <p:sp>
        <p:nvSpPr>
          <p:cNvPr id="20" name="Rectangle 19"/>
          <p:cNvSpPr/>
          <p:nvPr/>
        </p:nvSpPr>
        <p:spPr>
          <a:xfrm>
            <a:off x="457200" y="1645919"/>
            <a:ext cx="2286000" cy="1005840"/>
          </a:xfrm>
          <a:prstGeom prst="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664207"/>
            <a:ext cx="2194560" cy="96012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email UNIQUE</a:t>
            </a:r>
          </a:p>
          <a:p>
            <a:pPr algn="l">
              <a:spcAft>
                <a:spcPts val="0"/>
              </a:spcAft>
            </a:pPr>
            <a:r>
              <a:rPr sz="900">
                <a:solidFill>
                  <a:srgbClr val="333333"/>
                </a:solidFill>
                <a:latin typeface="Consolas"/>
              </a:rPr>
              <a:t>password_hash</a:t>
            </a:r>
          </a:p>
          <a:p>
            <a:pPr algn="l">
              <a:spcAft>
                <a:spcPts val="0"/>
              </a:spcAft>
            </a:pPr>
            <a:r>
              <a:rPr sz="900">
                <a:solidFill>
                  <a:srgbClr val="333333"/>
                </a:solidFill>
                <a:latin typeface="Consolas"/>
              </a:rPr>
              <a:t>username</a:t>
            </a:r>
          </a:p>
          <a:p>
            <a:pPr algn="l">
              <a:spcAft>
                <a:spcPts val="0"/>
              </a:spcAft>
            </a:pPr>
            <a:r>
              <a:rPr sz="900">
                <a:solidFill>
                  <a:srgbClr val="333333"/>
                </a:solidFill>
                <a:latin typeface="Consolas"/>
              </a:rPr>
              <a:t>is_admin</a:t>
            </a:r>
          </a:p>
          <a:p>
            <a:pPr algn="l">
              <a:spcAft>
                <a:spcPts val="0"/>
              </a:spcAft>
            </a:pPr>
            <a:r>
              <a:rPr sz="900">
                <a:solidFill>
                  <a:srgbClr val="333333"/>
                </a:solidFill>
                <a:latin typeface="Consolas"/>
              </a:rPr>
              <a:t>created_at</a:t>
            </a:r>
          </a:p>
        </p:txBody>
      </p:sp>
      <p:sp>
        <p:nvSpPr>
          <p:cNvPr id="22" name="Rectangle 21"/>
          <p:cNvSpPr/>
          <p:nvPr/>
        </p:nvSpPr>
        <p:spPr>
          <a:xfrm>
            <a:off x="457200" y="2834640"/>
            <a:ext cx="2286000" cy="365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834640"/>
            <a:ext cx="2286000" cy="365760"/>
          </a:xfrm>
          <a:prstGeom prst="rect">
            <a:avLst/>
          </a:prstGeom>
          <a:noFill/>
        </p:spPr>
        <p:txBody>
          <a:bodyPr wrap="square" lIns="60000" rIns="60000" tIns="40000" bIns="40000" anchor="ctr">
            <a:spAutoFit/>
          </a:bodyPr>
          <a:lstStyle/>
          <a:p>
            <a:pPr algn="ctr"/>
            <a:r>
              <a:rPr sz="1200" b="1">
                <a:solidFill>
                  <a:srgbClr val="FFFFFF"/>
                </a:solidFill>
                <a:latin typeface="Calibri"/>
              </a:rPr>
              <a:t>user_preferences</a:t>
            </a:r>
          </a:p>
        </p:txBody>
      </p:sp>
      <p:sp>
        <p:nvSpPr>
          <p:cNvPr id="24" name="Rectangle 23"/>
          <p:cNvSpPr/>
          <p:nvPr/>
        </p:nvSpPr>
        <p:spPr>
          <a:xfrm>
            <a:off x="457200" y="3200400"/>
            <a:ext cx="2286000" cy="731519"/>
          </a:xfrm>
          <a:prstGeom prst="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218688"/>
            <a:ext cx="2194560" cy="68580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FK user_id</a:t>
            </a:r>
          </a:p>
          <a:p>
            <a:pPr algn="l">
              <a:spcAft>
                <a:spcPts val="0"/>
              </a:spcAft>
            </a:pPr>
            <a:r>
              <a:rPr sz="900">
                <a:solidFill>
                  <a:srgbClr val="333333"/>
                </a:solidFill>
                <a:latin typeface="Consolas"/>
              </a:rPr>
              <a:t>categories_preferees[]</a:t>
            </a:r>
          </a:p>
          <a:p>
            <a:pPr algn="l">
              <a:spcAft>
                <a:spcPts val="0"/>
              </a:spcAft>
            </a:pPr>
            <a:r>
              <a:rPr sz="900">
                <a:solidFill>
                  <a:srgbClr val="333333"/>
                </a:solidFill>
                <a:latin typeface="Consolas"/>
              </a:rPr>
              <a:t>budget_max</a:t>
            </a:r>
          </a:p>
          <a:p>
            <a:pPr algn="l">
              <a:spcAft>
                <a:spcPts val="0"/>
              </a:spcAft>
            </a:pPr>
            <a:r>
              <a:rPr sz="900">
                <a:solidFill>
                  <a:srgbClr val="333333"/>
                </a:solidFill>
                <a:latin typeface="Consolas"/>
              </a:rPr>
              <a:t>sources_preferees[]</a:t>
            </a:r>
          </a:p>
        </p:txBody>
      </p:sp>
      <p:sp>
        <p:nvSpPr>
          <p:cNvPr id="26" name="Rectangle 25"/>
          <p:cNvSpPr/>
          <p:nvPr/>
        </p:nvSpPr>
        <p:spPr>
          <a:xfrm>
            <a:off x="457200" y="4114800"/>
            <a:ext cx="2286000" cy="365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114800"/>
            <a:ext cx="2286000" cy="365760"/>
          </a:xfrm>
          <a:prstGeom prst="rect">
            <a:avLst/>
          </a:prstGeom>
          <a:noFill/>
        </p:spPr>
        <p:txBody>
          <a:bodyPr wrap="square" lIns="60000" rIns="60000" tIns="40000" bIns="40000" anchor="ctr">
            <a:spAutoFit/>
          </a:bodyPr>
          <a:lstStyle/>
          <a:p>
            <a:pPr algn="ctr"/>
            <a:r>
              <a:rPr sz="1200" b="1">
                <a:solidFill>
                  <a:srgbClr val="FFFFFF"/>
                </a:solidFill>
                <a:latin typeface="Calibri"/>
              </a:rPr>
              <a:t>user_favorites</a:t>
            </a:r>
          </a:p>
        </p:txBody>
      </p:sp>
      <p:sp>
        <p:nvSpPr>
          <p:cNvPr id="28" name="Rectangle 27"/>
          <p:cNvSpPr/>
          <p:nvPr/>
        </p:nvSpPr>
        <p:spPr>
          <a:xfrm>
            <a:off x="457200" y="4480560"/>
            <a:ext cx="2286000" cy="548640"/>
          </a:xfrm>
          <a:prstGeom prst="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498848"/>
            <a:ext cx="2194560" cy="50292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FK user_id</a:t>
            </a:r>
          </a:p>
          <a:p>
            <a:pPr algn="l">
              <a:spcAft>
                <a:spcPts val="0"/>
              </a:spcAft>
            </a:pPr>
            <a:r>
              <a:rPr sz="900">
                <a:solidFill>
                  <a:srgbClr val="333333"/>
                </a:solidFill>
                <a:latin typeface="Consolas"/>
              </a:rPr>
              <a:t>FK product_id</a:t>
            </a:r>
          </a:p>
          <a:p>
            <a:pPr algn="l">
              <a:spcAft>
                <a:spcPts val="0"/>
              </a:spcAft>
            </a:pPr>
            <a:r>
              <a:rPr sz="900">
                <a:solidFill>
                  <a:srgbClr val="333333"/>
                </a:solidFill>
                <a:latin typeface="Consolas"/>
              </a:rPr>
              <a:t>created_at</a:t>
            </a:r>
          </a:p>
        </p:txBody>
      </p:sp>
      <p:sp>
        <p:nvSpPr>
          <p:cNvPr id="30" name="Rectangle 29"/>
          <p:cNvSpPr/>
          <p:nvPr/>
        </p:nvSpPr>
        <p:spPr>
          <a:xfrm>
            <a:off x="457200" y="5212080"/>
            <a:ext cx="2286000" cy="365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212080"/>
            <a:ext cx="2286000" cy="365760"/>
          </a:xfrm>
          <a:prstGeom prst="rect">
            <a:avLst/>
          </a:prstGeom>
          <a:noFill/>
        </p:spPr>
        <p:txBody>
          <a:bodyPr wrap="square" lIns="60000" rIns="60000" tIns="40000" bIns="40000" anchor="ctr">
            <a:spAutoFit/>
          </a:bodyPr>
          <a:lstStyle/>
          <a:p>
            <a:pPr algn="ctr"/>
            <a:r>
              <a:rPr sz="1200" b="1">
                <a:solidFill>
                  <a:srgbClr val="FFFFFF"/>
                </a:solidFill>
                <a:latin typeface="Calibri"/>
              </a:rPr>
              <a:t>price_alerts</a:t>
            </a:r>
          </a:p>
        </p:txBody>
      </p:sp>
      <p:sp>
        <p:nvSpPr>
          <p:cNvPr id="32" name="Rectangle 31"/>
          <p:cNvSpPr/>
          <p:nvPr/>
        </p:nvSpPr>
        <p:spPr>
          <a:xfrm>
            <a:off x="457200" y="5577840"/>
            <a:ext cx="2286000" cy="731519"/>
          </a:xfrm>
          <a:prstGeom prst="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596128"/>
            <a:ext cx="2194560" cy="68580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FK user_id</a:t>
            </a:r>
          </a:p>
          <a:p>
            <a:pPr algn="l">
              <a:spcAft>
                <a:spcPts val="0"/>
              </a:spcAft>
            </a:pPr>
            <a:r>
              <a:rPr sz="900">
                <a:solidFill>
                  <a:srgbClr val="333333"/>
                </a:solidFill>
                <a:latin typeface="Consolas"/>
              </a:rPr>
              <a:t>FK product_id</a:t>
            </a:r>
          </a:p>
          <a:p>
            <a:pPr algn="l">
              <a:spcAft>
                <a:spcPts val="0"/>
              </a:spcAft>
            </a:pPr>
            <a:r>
              <a:rPr sz="900">
                <a:solidFill>
                  <a:srgbClr val="333333"/>
                </a:solidFill>
                <a:latin typeface="Consolas"/>
              </a:rPr>
              <a:t>target_price</a:t>
            </a:r>
          </a:p>
          <a:p>
            <a:pPr algn="l">
              <a:spcAft>
                <a:spcPts val="0"/>
              </a:spcAft>
            </a:pPr>
            <a:r>
              <a:rPr sz="900">
                <a:solidFill>
                  <a:srgbClr val="333333"/>
                </a:solidFill>
                <a:latin typeface="Consolas"/>
              </a:rPr>
              <a:t>active</a:t>
            </a:r>
          </a:p>
          <a:p>
            <a:pPr algn="l">
              <a:spcAft>
                <a:spcPts val="0"/>
              </a:spcAft>
            </a:pPr>
            <a:r>
              <a:rPr sz="900">
                <a:solidFill>
                  <a:srgbClr val="333333"/>
                </a:solidFill>
                <a:latin typeface="Consolas"/>
              </a:rPr>
              <a:t>last_notified_at</a:t>
            </a:r>
          </a:p>
        </p:txBody>
      </p:sp>
      <p:sp>
        <p:nvSpPr>
          <p:cNvPr id="34" name="Rectangle 33"/>
          <p:cNvSpPr/>
          <p:nvPr/>
        </p:nvSpPr>
        <p:spPr>
          <a:xfrm>
            <a:off x="8229600" y="5212080"/>
            <a:ext cx="2377440" cy="3657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5212080"/>
            <a:ext cx="2377440" cy="365760"/>
          </a:xfrm>
          <a:prstGeom prst="rect">
            <a:avLst/>
          </a:prstGeom>
          <a:noFill/>
        </p:spPr>
        <p:txBody>
          <a:bodyPr wrap="square" lIns="60000" rIns="60000" tIns="40000" bIns="40000" anchor="ctr">
            <a:spAutoFit/>
          </a:bodyPr>
          <a:lstStyle/>
          <a:p>
            <a:pPr algn="ctr"/>
            <a:r>
              <a:rPr sz="1200" b="1">
                <a:solidFill>
                  <a:srgbClr val="FFFFFF"/>
                </a:solidFill>
                <a:latin typeface="Calibri"/>
              </a:rPr>
              <a:t>scrape_logs</a:t>
            </a:r>
          </a:p>
        </p:txBody>
      </p:sp>
      <p:sp>
        <p:nvSpPr>
          <p:cNvPr id="36" name="Rectangle 35"/>
          <p:cNvSpPr/>
          <p:nvPr/>
        </p:nvSpPr>
        <p:spPr>
          <a:xfrm>
            <a:off x="8229600" y="5577840"/>
            <a:ext cx="2377440" cy="731519"/>
          </a:xfrm>
          <a:prstGeom prst="rect">
            <a:avLst/>
          </a:prstGeom>
          <a:solidFill>
            <a:srgbClr val="F3F4F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5596128"/>
            <a:ext cx="2286000" cy="685800"/>
          </a:xfrm>
          <a:prstGeom prst="rect">
            <a:avLst/>
          </a:prstGeom>
          <a:noFill/>
        </p:spPr>
        <p:txBody>
          <a:bodyPr wrap="square">
            <a:spAutoFit/>
          </a:bodyPr>
          <a:lstStyle/>
          <a:p>
            <a:pPr algn="l">
              <a:spcAft>
                <a:spcPts val="0"/>
              </a:spcAft>
            </a:pPr>
            <a:r>
              <a:rPr sz="900">
                <a:solidFill>
                  <a:srgbClr val="333333"/>
                </a:solidFill>
                <a:latin typeface="Consolas"/>
              </a:rPr>
              <a:t>PK id</a:t>
            </a:r>
          </a:p>
          <a:p>
            <a:pPr algn="l">
              <a:spcAft>
                <a:spcPts val="0"/>
              </a:spcAft>
            </a:pPr>
            <a:r>
              <a:rPr sz="900">
                <a:solidFill>
                  <a:srgbClr val="333333"/>
                </a:solidFill>
                <a:latin typeface="Consolas"/>
              </a:rPr>
              <a:t>source</a:t>
            </a:r>
          </a:p>
          <a:p>
            <a:pPr algn="l">
              <a:spcAft>
                <a:spcPts val="0"/>
              </a:spcAft>
            </a:pPr>
            <a:r>
              <a:rPr sz="900">
                <a:solidFill>
                  <a:srgbClr val="333333"/>
                </a:solidFill>
                <a:latin typeface="Consolas"/>
              </a:rPr>
              <a:t>status</a:t>
            </a:r>
          </a:p>
          <a:p>
            <a:pPr algn="l">
              <a:spcAft>
                <a:spcPts val="0"/>
              </a:spcAft>
            </a:pPr>
            <a:r>
              <a:rPr sz="900">
                <a:solidFill>
                  <a:srgbClr val="333333"/>
                </a:solidFill>
                <a:latin typeface="Consolas"/>
              </a:rPr>
              <a:t>items_raw</a:t>
            </a:r>
          </a:p>
          <a:p>
            <a:pPr algn="l">
              <a:spcAft>
                <a:spcPts val="0"/>
              </a:spcAft>
            </a:pPr>
            <a:r>
              <a:rPr sz="900">
                <a:solidFill>
                  <a:srgbClr val="333333"/>
                </a:solidFill>
                <a:latin typeface="Consolas"/>
              </a:rPr>
              <a:t>items_clean</a:t>
            </a:r>
          </a:p>
          <a:p>
            <a:pPr algn="l">
              <a:spcAft>
                <a:spcPts val="0"/>
              </a:spcAft>
            </a:pPr>
            <a:r>
              <a:rPr sz="900">
                <a:solidFill>
                  <a:srgbClr val="333333"/>
                </a:solidFill>
                <a:latin typeface="Consolas"/>
              </a:rPr>
              <a:t>duration_sec</a:t>
            </a:r>
          </a:p>
          <a:p>
            <a:pPr algn="l">
              <a:spcAft>
                <a:spcPts val="0"/>
              </a:spcAft>
            </a:pPr>
            <a:r>
              <a:rPr sz="900">
                <a:solidFill>
                  <a:srgbClr val="333333"/>
                </a:solidFill>
                <a:latin typeface="Consolas"/>
              </a:rPr>
              <a:t>started_at</a:t>
            </a:r>
          </a:p>
        </p:txBody>
      </p:sp>
      <p:cxnSp>
        <p:nvCxnSpPr>
          <p:cNvPr id="38" name="Connector 37"/>
          <p:cNvCxnSpPr/>
          <p:nvPr/>
        </p:nvCxnSpPr>
        <p:spPr>
          <a:xfrm>
            <a:off x="1600200" y="2651760"/>
            <a:ext cx="0" cy="182880"/>
          </a:xfrm>
          <a:prstGeom prst="line">
            <a:avLst/>
          </a:prstGeom>
          <a:ln w="1905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600200" y="2651760"/>
            <a:ext cx="0" cy="1463040"/>
          </a:xfrm>
          <a:prstGeom prst="line">
            <a:avLst/>
          </a:prstGeom>
          <a:ln w="1905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600200" y="2651760"/>
            <a:ext cx="0" cy="2560320"/>
          </a:xfrm>
          <a:prstGeom prst="line">
            <a:avLst/>
          </a:prstGeom>
          <a:ln w="1905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743200" y="3749039"/>
            <a:ext cx="2103120" cy="822961"/>
          </a:xfrm>
          <a:prstGeom prst="line">
            <a:avLst/>
          </a:prstGeom>
          <a:ln w="19050">
            <a:solidFill>
              <a:srgbClr val="F9731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2743200" y="3931920"/>
            <a:ext cx="2103120" cy="1828800"/>
          </a:xfrm>
          <a:prstGeom prst="line">
            <a:avLst/>
          </a:prstGeom>
          <a:ln w="19050">
            <a:solidFill>
              <a:srgbClr val="F9731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315200" y="3749039"/>
            <a:ext cx="914400" cy="0"/>
          </a:xfrm>
          <a:prstGeom prst="line">
            <a:avLst/>
          </a:prstGeom>
          <a:ln w="19050">
            <a:solidFill>
              <a:srgbClr val="F9731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035040" y="2468880"/>
            <a:ext cx="3657600" cy="365760"/>
          </a:xfrm>
          <a:prstGeom prst="line">
            <a:avLst/>
          </a:prstGeom>
          <a:ln w="19050">
            <a:solidFill>
              <a:srgbClr val="F97316"/>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108960" y="1280160"/>
            <a:ext cx="5212080" cy="13716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6120" y="1371600"/>
            <a:ext cx="5029200" cy="365760"/>
          </a:xfrm>
          <a:prstGeom prst="rect">
            <a:avLst/>
          </a:prstGeom>
          <a:noFill/>
        </p:spPr>
        <p:txBody>
          <a:bodyPr wrap="square" lIns="60000" rIns="60000" tIns="40000" bIns="40000" anchor="t">
            <a:spAutoFit/>
          </a:bodyPr>
          <a:lstStyle/>
          <a:p>
            <a:pPr algn="l"/>
            <a:r>
              <a:rPr sz="1300" b="1">
                <a:solidFill>
                  <a:srgbClr val="1E3A8A"/>
                </a:solidFill>
                <a:latin typeface="Calibri"/>
              </a:rPr>
              <a:t>Caractéristiques du schéma</a:t>
            </a:r>
          </a:p>
        </p:txBody>
      </p:sp>
      <p:sp>
        <p:nvSpPr>
          <p:cNvPr id="47" name="TextBox 46"/>
          <p:cNvSpPr txBox="1"/>
          <p:nvPr/>
        </p:nvSpPr>
        <p:spPr>
          <a:xfrm>
            <a:off x="3246120" y="1737360"/>
            <a:ext cx="5029200" cy="1005840"/>
          </a:xfrm>
          <a:prstGeom prst="rect">
            <a:avLst/>
          </a:prstGeom>
          <a:noFill/>
        </p:spPr>
        <p:txBody>
          <a:bodyPr wrap="square" lIns="80000">
            <a:spAutoFit/>
          </a:bodyPr>
          <a:lstStyle/>
          <a:p>
            <a:pPr algn="l">
              <a:spcAft>
                <a:spcPts val="800"/>
              </a:spcAft>
            </a:pPr>
            <a:r>
              <a:rPr sz="1000" b="0">
                <a:solidFill>
                  <a:srgbClr val="333333"/>
                </a:solidFill>
                <a:latin typeface="Calibri"/>
              </a:rPr>
              <a:t>•  • 8 tables, contraintes CHECK, UNIQUE, FK CASCADE</a:t>
            </a:r>
          </a:p>
          <a:p>
            <a:pPr algn="l">
              <a:spcAft>
                <a:spcPts val="800"/>
              </a:spcAft>
            </a:pPr>
            <a:r>
              <a:rPr sz="1000" b="0">
                <a:solidFill>
                  <a:srgbClr val="333333"/>
                </a:solidFill>
                <a:latin typeface="Calibri"/>
              </a:rPr>
              <a:t>•  • Indexes composites sur (product_id, scraped_at)</a:t>
            </a:r>
          </a:p>
          <a:p>
            <a:pPr algn="l">
              <a:spcAft>
                <a:spcPts val="800"/>
              </a:spcAft>
            </a:pPr>
            <a:r>
              <a:rPr sz="1000" b="0">
                <a:solidFill>
                  <a:srgbClr val="333333"/>
                </a:solidFill>
                <a:latin typeface="Calibri"/>
              </a:rPr>
              <a:t>•  • Triggers plpgsql pour updated_at</a:t>
            </a:r>
          </a:p>
          <a:p>
            <a:pPr algn="l">
              <a:spcAft>
                <a:spcPts val="800"/>
              </a:spcAft>
            </a:pPr>
            <a:r>
              <a:rPr sz="1000" b="0">
                <a:solidFill>
                  <a:srgbClr val="333333"/>
                </a:solidFill>
                <a:latin typeface="Calibri"/>
              </a:rPr>
              <a:t>•  • 2 vues : v_latest_prices (JOIN LATERAL), v_price_evolution</a:t>
            </a:r>
          </a:p>
        </p:txBody>
      </p:sp>
      <p:sp>
        <p:nvSpPr>
          <p:cNvPr id="48" name="Rectangle 47"/>
          <p:cNvSpPr/>
          <p:nvPr/>
        </p:nvSpPr>
        <p:spPr>
          <a:xfrm>
            <a:off x="457200" y="6355080"/>
            <a:ext cx="274320" cy="1371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6336792"/>
            <a:ext cx="2286000" cy="182880"/>
          </a:xfrm>
          <a:prstGeom prst="rect">
            <a:avLst/>
          </a:prstGeom>
          <a:noFill/>
        </p:spPr>
        <p:txBody>
          <a:bodyPr wrap="square" lIns="60000" rIns="60000" tIns="40000" bIns="40000" anchor="t">
            <a:spAutoFit/>
          </a:bodyPr>
          <a:lstStyle/>
          <a:p>
            <a:pPr algn="l"/>
            <a:r>
              <a:rPr sz="1000" b="0">
                <a:solidFill>
                  <a:srgbClr val="333333"/>
                </a:solidFill>
                <a:latin typeface="Calibri"/>
              </a:rPr>
              <a:t>Tables utilisateur</a:t>
            </a:r>
          </a:p>
        </p:txBody>
      </p:sp>
      <p:sp>
        <p:nvSpPr>
          <p:cNvPr id="50" name="Rectangle 49"/>
          <p:cNvSpPr/>
          <p:nvPr/>
        </p:nvSpPr>
        <p:spPr>
          <a:xfrm>
            <a:off x="3200400" y="6355080"/>
            <a:ext cx="274320" cy="1371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20440" y="6336792"/>
            <a:ext cx="2286000" cy="182880"/>
          </a:xfrm>
          <a:prstGeom prst="rect">
            <a:avLst/>
          </a:prstGeom>
          <a:noFill/>
        </p:spPr>
        <p:txBody>
          <a:bodyPr wrap="square" lIns="60000" rIns="60000" tIns="40000" bIns="40000" anchor="t">
            <a:spAutoFit/>
          </a:bodyPr>
          <a:lstStyle/>
          <a:p>
            <a:pPr algn="l"/>
            <a:r>
              <a:rPr sz="1000" b="0">
                <a:solidFill>
                  <a:srgbClr val="333333"/>
                </a:solidFill>
                <a:latin typeface="Calibri"/>
              </a:rPr>
              <a:t>Tables data</a:t>
            </a:r>
          </a:p>
        </p:txBody>
      </p:sp>
      <p:sp>
        <p:nvSpPr>
          <p:cNvPr id="52" name="Rectangle 51"/>
          <p:cNvSpPr/>
          <p:nvPr/>
        </p:nvSpPr>
        <p:spPr>
          <a:xfrm>
            <a:off x="5486400" y="6355080"/>
            <a:ext cx="274320" cy="137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06440" y="6336792"/>
            <a:ext cx="2286000" cy="182880"/>
          </a:xfrm>
          <a:prstGeom prst="rect">
            <a:avLst/>
          </a:prstGeom>
          <a:noFill/>
        </p:spPr>
        <p:txBody>
          <a:bodyPr wrap="square" lIns="60000" rIns="60000" tIns="40000" bIns="40000" anchor="t">
            <a:spAutoFit/>
          </a:bodyPr>
          <a:lstStyle/>
          <a:p>
            <a:pPr algn="l"/>
            <a:r>
              <a:rPr sz="1000" b="0">
                <a:solidFill>
                  <a:srgbClr val="333333"/>
                </a:solidFill>
                <a:latin typeface="Calibri"/>
              </a:rPr>
              <a:t>Historique (volumineuse)</a:t>
            </a:r>
          </a:p>
        </p:txBody>
      </p:sp>
      <p:sp>
        <p:nvSpPr>
          <p:cNvPr id="54" name="Rectangle 53"/>
          <p:cNvSpPr/>
          <p:nvPr/>
        </p:nvSpPr>
        <p:spPr>
          <a:xfrm>
            <a:off x="8229600" y="6355080"/>
            <a:ext cx="274320" cy="13716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49640" y="6336792"/>
            <a:ext cx="2286000" cy="182880"/>
          </a:xfrm>
          <a:prstGeom prst="rect">
            <a:avLst/>
          </a:prstGeom>
          <a:noFill/>
        </p:spPr>
        <p:txBody>
          <a:bodyPr wrap="square" lIns="60000" rIns="60000" tIns="40000" bIns="40000" anchor="t">
            <a:spAutoFit/>
          </a:bodyPr>
          <a:lstStyle/>
          <a:p>
            <a:pPr algn="l"/>
            <a:r>
              <a:rPr sz="1000" b="0">
                <a:solidFill>
                  <a:srgbClr val="333333"/>
                </a:solidFill>
                <a:latin typeface="Calibri"/>
              </a:rPr>
              <a:t>Logs</a:t>
            </a:r>
          </a:p>
        </p:txBody>
      </p:sp>
      <p:sp>
        <p:nvSpPr>
          <p:cNvPr id="56" name="Rectangle 55"/>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58" name="TextBox 57"/>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Défi technique : Cloudflare Turnstile</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Comment scraper Jumia malgré la protection anti-bot</a:t>
            </a:r>
          </a:p>
        </p:txBody>
      </p:sp>
      <p:sp>
        <p:nvSpPr>
          <p:cNvPr id="6" name="Rounded Rectangle 5"/>
          <p:cNvSpPr/>
          <p:nvPr/>
        </p:nvSpPr>
        <p:spPr>
          <a:xfrm>
            <a:off x="457200" y="1463040"/>
            <a:ext cx="5577840" cy="237744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557784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5577840" cy="457200"/>
          </a:xfrm>
          <a:prstGeom prst="rect">
            <a:avLst/>
          </a:prstGeom>
          <a:noFill/>
        </p:spPr>
        <p:txBody>
          <a:bodyPr wrap="square" lIns="60000" rIns="60000" tIns="40000" bIns="40000" anchor="ctr">
            <a:spAutoFit/>
          </a:bodyPr>
          <a:lstStyle/>
          <a:p>
            <a:pPr algn="ctr"/>
            <a:r>
              <a:rPr sz="1400" b="1">
                <a:solidFill>
                  <a:srgbClr val="FFFFFF"/>
                </a:solidFill>
                <a:latin typeface="Calibri"/>
              </a:rPr>
              <a:t>PROBLÈME</a:t>
            </a:r>
          </a:p>
        </p:txBody>
      </p:sp>
      <p:sp>
        <p:nvSpPr>
          <p:cNvPr id="9" name="TextBox 8"/>
          <p:cNvSpPr txBox="1"/>
          <p:nvPr/>
        </p:nvSpPr>
        <p:spPr>
          <a:xfrm>
            <a:off x="640080" y="2057400"/>
            <a:ext cx="5303520" cy="1737360"/>
          </a:xfrm>
          <a:prstGeom prst="rect">
            <a:avLst/>
          </a:prstGeom>
          <a:noFill/>
        </p:spPr>
        <p:txBody>
          <a:bodyPr wrap="square" lIns="80000">
            <a:spAutoFit/>
          </a:bodyPr>
          <a:lstStyle/>
          <a:p>
            <a:pPr algn="l">
              <a:spcAft>
                <a:spcPts val="800"/>
              </a:spcAft>
            </a:pPr>
            <a:r>
              <a:rPr sz="1300" b="0">
                <a:solidFill>
                  <a:srgbClr val="333333"/>
                </a:solidFill>
                <a:latin typeface="Calibri"/>
              </a:rPr>
              <a:t>•  Jumia utilise Cloudflare Turnstile (CAPTCHA JS)</a:t>
            </a:r>
          </a:p>
          <a:p>
            <a:pPr algn="l">
              <a:spcAft>
                <a:spcPts val="800"/>
              </a:spcAft>
            </a:pPr>
            <a:r>
              <a:rPr sz="1300" b="0">
                <a:solidFill>
                  <a:srgbClr val="333333"/>
                </a:solidFill>
                <a:latin typeface="Calibri"/>
              </a:rPr>
              <a:t>•  Scrapy pur = erreur 403 Forbidden immédiate</a:t>
            </a:r>
          </a:p>
          <a:p>
            <a:pPr algn="l">
              <a:spcAft>
                <a:spcPts val="800"/>
              </a:spcAft>
            </a:pPr>
            <a:r>
              <a:rPr sz="1300" b="0">
                <a:solidFill>
                  <a:srgbClr val="333333"/>
                </a:solidFill>
                <a:latin typeface="Calibri"/>
              </a:rPr>
              <a:t>•  Les headers et User-Agent ne suffisent pas</a:t>
            </a:r>
          </a:p>
          <a:p>
            <a:pPr algn="l">
              <a:spcAft>
                <a:spcPts val="800"/>
              </a:spcAft>
            </a:pPr>
            <a:r>
              <a:rPr sz="1300" b="0">
                <a:solidFill>
                  <a:srgbClr val="333333"/>
                </a:solidFill>
                <a:latin typeface="Calibri"/>
              </a:rPr>
              <a:t>•  Un token dynamique est exigé à chaque requête</a:t>
            </a:r>
          </a:p>
        </p:txBody>
      </p:sp>
      <p:sp>
        <p:nvSpPr>
          <p:cNvPr id="10" name="Rounded Rectangle 9"/>
          <p:cNvSpPr/>
          <p:nvPr/>
        </p:nvSpPr>
        <p:spPr>
          <a:xfrm>
            <a:off x="6217920" y="1463040"/>
            <a:ext cx="5486400" cy="2377440"/>
          </a:xfrm>
          <a:prstGeom prst="round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63040"/>
            <a:ext cx="5486400"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463040"/>
            <a:ext cx="5486400" cy="457200"/>
          </a:xfrm>
          <a:prstGeom prst="rect">
            <a:avLst/>
          </a:prstGeom>
          <a:noFill/>
        </p:spPr>
        <p:txBody>
          <a:bodyPr wrap="square" lIns="60000" rIns="60000" tIns="40000" bIns="40000" anchor="ctr">
            <a:spAutoFit/>
          </a:bodyPr>
          <a:lstStyle/>
          <a:p>
            <a:pPr algn="ctr"/>
            <a:r>
              <a:rPr sz="1400" b="1">
                <a:solidFill>
                  <a:srgbClr val="FFFFFF"/>
                </a:solidFill>
                <a:latin typeface="Calibri"/>
              </a:rPr>
              <a:t>SOLUTION</a:t>
            </a:r>
          </a:p>
        </p:txBody>
      </p:sp>
      <p:sp>
        <p:nvSpPr>
          <p:cNvPr id="13" name="TextBox 12"/>
          <p:cNvSpPr txBox="1"/>
          <p:nvPr/>
        </p:nvSpPr>
        <p:spPr>
          <a:xfrm>
            <a:off x="6400800" y="2057400"/>
            <a:ext cx="5212080" cy="1737360"/>
          </a:xfrm>
          <a:prstGeom prst="rect">
            <a:avLst/>
          </a:prstGeom>
          <a:noFill/>
        </p:spPr>
        <p:txBody>
          <a:bodyPr wrap="square" lIns="80000">
            <a:spAutoFit/>
          </a:bodyPr>
          <a:lstStyle/>
          <a:p>
            <a:pPr algn="l">
              <a:spcAft>
                <a:spcPts val="800"/>
              </a:spcAft>
            </a:pPr>
            <a:r>
              <a:rPr sz="1300" b="0">
                <a:solidFill>
                  <a:srgbClr val="333333"/>
                </a:solidFill>
                <a:latin typeface="Calibri"/>
              </a:rPr>
              <a:t>•  FlareSolverr : proxy Chromium headless</a:t>
            </a:r>
          </a:p>
          <a:p>
            <a:pPr algn="l">
              <a:spcAft>
                <a:spcPts val="800"/>
              </a:spcAft>
            </a:pPr>
            <a:r>
              <a:rPr sz="1300" b="0">
                <a:solidFill>
                  <a:srgbClr val="333333"/>
                </a:solidFill>
                <a:latin typeface="Calibri"/>
              </a:rPr>
              <a:t>•  Le spider passe via FlareSolverr qui résout Turnstile</a:t>
            </a:r>
          </a:p>
          <a:p>
            <a:pPr algn="l">
              <a:spcAft>
                <a:spcPts val="800"/>
              </a:spcAft>
            </a:pPr>
            <a:r>
              <a:rPr sz="1300" b="0">
                <a:solidFill>
                  <a:srgbClr val="333333"/>
                </a:solidFill>
                <a:latin typeface="Calibri"/>
              </a:rPr>
              <a:t>•  Retry Celery (max_retries=2) en cas d'échec</a:t>
            </a:r>
          </a:p>
          <a:p>
            <a:pPr algn="l">
              <a:spcAft>
                <a:spcPts val="800"/>
              </a:spcAft>
            </a:pPr>
            <a:r>
              <a:rPr sz="1300" b="0">
                <a:solidFill>
                  <a:srgbClr val="333333"/>
                </a:solidFill>
                <a:latin typeface="Calibri"/>
              </a:rPr>
              <a:t>•  Timeout configuré pour éviter les blocages</a:t>
            </a:r>
          </a:p>
        </p:txBody>
      </p:sp>
      <p:sp>
        <p:nvSpPr>
          <p:cNvPr id="14" name="Rounded Rectangle 13"/>
          <p:cNvSpPr/>
          <p:nvPr/>
        </p:nvSpPr>
        <p:spPr>
          <a:xfrm>
            <a:off x="457200" y="4206240"/>
            <a:ext cx="11247120" cy="210312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97680"/>
            <a:ext cx="10972800" cy="365760"/>
          </a:xfrm>
          <a:prstGeom prst="rect">
            <a:avLst/>
          </a:prstGeom>
          <a:noFill/>
        </p:spPr>
        <p:txBody>
          <a:bodyPr wrap="square" lIns="60000" rIns="60000" tIns="40000" bIns="40000" anchor="t">
            <a:spAutoFit/>
          </a:bodyPr>
          <a:lstStyle/>
          <a:p>
            <a:pPr algn="l"/>
            <a:r>
              <a:rPr sz="1400" b="1">
                <a:solidFill>
                  <a:srgbClr val="1E3A8A"/>
                </a:solidFill>
                <a:latin typeface="Calibri"/>
              </a:rPr>
              <a:t>Preuve en production (logs réels)</a:t>
            </a:r>
          </a:p>
        </p:txBody>
      </p:sp>
      <p:sp>
        <p:nvSpPr>
          <p:cNvPr id="16" name="Rounded Rectangle 15"/>
          <p:cNvSpPr/>
          <p:nvPr/>
        </p:nvSpPr>
        <p:spPr>
          <a:xfrm>
            <a:off x="731520" y="4846320"/>
            <a:ext cx="2011680" cy="118872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937760"/>
            <a:ext cx="2011680" cy="365760"/>
          </a:xfrm>
          <a:prstGeom prst="rect">
            <a:avLst/>
          </a:prstGeom>
          <a:noFill/>
        </p:spPr>
        <p:txBody>
          <a:bodyPr wrap="square" lIns="60000" rIns="60000" tIns="40000" bIns="40000" anchor="t">
            <a:spAutoFit/>
          </a:bodyPr>
          <a:lstStyle/>
          <a:p>
            <a:pPr algn="ctr"/>
            <a:r>
              <a:rPr sz="1100" b="1">
                <a:solidFill>
                  <a:srgbClr val="9CA3AF"/>
                </a:solidFill>
                <a:latin typeface="Calibri"/>
              </a:rPr>
              <a:t>08:11</a:t>
            </a:r>
          </a:p>
        </p:txBody>
      </p:sp>
      <p:sp>
        <p:nvSpPr>
          <p:cNvPr id="18" name="TextBox 17"/>
          <p:cNvSpPr txBox="1"/>
          <p:nvPr/>
        </p:nvSpPr>
        <p:spPr>
          <a:xfrm>
            <a:off x="731520" y="5303520"/>
            <a:ext cx="2011680" cy="548640"/>
          </a:xfrm>
          <a:prstGeom prst="rect">
            <a:avLst/>
          </a:prstGeom>
          <a:noFill/>
        </p:spPr>
        <p:txBody>
          <a:bodyPr wrap="square" lIns="60000" rIns="60000" tIns="40000" bIns="40000" anchor="ctr">
            <a:spAutoFit/>
          </a:bodyPr>
          <a:lstStyle/>
          <a:p>
            <a:pPr algn="ctr"/>
            <a:r>
              <a:rPr sz="1600" b="1">
                <a:solidFill>
                  <a:srgbClr val="DC2626"/>
                </a:solidFill>
                <a:latin typeface="Calibri"/>
              </a:rPr>
              <a:t>❌ Error</a:t>
            </a:r>
          </a:p>
        </p:txBody>
      </p:sp>
      <p:sp>
        <p:nvSpPr>
          <p:cNvPr id="19" name="Rounded Rectangle 18"/>
          <p:cNvSpPr/>
          <p:nvPr/>
        </p:nvSpPr>
        <p:spPr>
          <a:xfrm>
            <a:off x="2926080" y="4846320"/>
            <a:ext cx="2011680" cy="118872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0" y="4937760"/>
            <a:ext cx="2011680" cy="365760"/>
          </a:xfrm>
          <a:prstGeom prst="rect">
            <a:avLst/>
          </a:prstGeom>
          <a:noFill/>
        </p:spPr>
        <p:txBody>
          <a:bodyPr wrap="square" lIns="60000" rIns="60000" tIns="40000" bIns="40000" anchor="t">
            <a:spAutoFit/>
          </a:bodyPr>
          <a:lstStyle/>
          <a:p>
            <a:pPr algn="ctr"/>
            <a:r>
              <a:rPr sz="1100" b="1">
                <a:solidFill>
                  <a:srgbClr val="9CA3AF"/>
                </a:solidFill>
                <a:latin typeface="Calibri"/>
              </a:rPr>
              <a:t>08:12</a:t>
            </a:r>
          </a:p>
        </p:txBody>
      </p:sp>
      <p:sp>
        <p:nvSpPr>
          <p:cNvPr id="21" name="TextBox 20"/>
          <p:cNvSpPr txBox="1"/>
          <p:nvPr/>
        </p:nvSpPr>
        <p:spPr>
          <a:xfrm>
            <a:off x="2926080" y="5303520"/>
            <a:ext cx="2011680" cy="548640"/>
          </a:xfrm>
          <a:prstGeom prst="rect">
            <a:avLst/>
          </a:prstGeom>
          <a:noFill/>
        </p:spPr>
        <p:txBody>
          <a:bodyPr wrap="square" lIns="60000" rIns="60000" tIns="40000" bIns="40000" anchor="ctr">
            <a:spAutoFit/>
          </a:bodyPr>
          <a:lstStyle/>
          <a:p>
            <a:pPr algn="ctr"/>
            <a:r>
              <a:rPr sz="1600" b="1">
                <a:solidFill>
                  <a:srgbClr val="DC2626"/>
                </a:solidFill>
                <a:latin typeface="Calibri"/>
              </a:rPr>
              <a:t>❌ Error</a:t>
            </a:r>
          </a:p>
        </p:txBody>
      </p:sp>
      <p:sp>
        <p:nvSpPr>
          <p:cNvPr id="22" name="Rounded Rectangle 21"/>
          <p:cNvSpPr/>
          <p:nvPr/>
        </p:nvSpPr>
        <p:spPr>
          <a:xfrm>
            <a:off x="5120640" y="4846320"/>
            <a:ext cx="2011680" cy="1188720"/>
          </a:xfrm>
          <a:prstGeom prst="round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4937760"/>
            <a:ext cx="2011680" cy="365760"/>
          </a:xfrm>
          <a:prstGeom prst="rect">
            <a:avLst/>
          </a:prstGeom>
          <a:noFill/>
        </p:spPr>
        <p:txBody>
          <a:bodyPr wrap="square" lIns="60000" rIns="60000" tIns="40000" bIns="40000" anchor="t">
            <a:spAutoFit/>
          </a:bodyPr>
          <a:lstStyle/>
          <a:p>
            <a:pPr algn="ctr"/>
            <a:r>
              <a:rPr sz="1100" b="1">
                <a:solidFill>
                  <a:srgbClr val="9CA3AF"/>
                </a:solidFill>
                <a:latin typeface="Calibri"/>
              </a:rPr>
              <a:t>08:13</a:t>
            </a:r>
          </a:p>
        </p:txBody>
      </p:sp>
      <p:sp>
        <p:nvSpPr>
          <p:cNvPr id="24" name="TextBox 23"/>
          <p:cNvSpPr txBox="1"/>
          <p:nvPr/>
        </p:nvSpPr>
        <p:spPr>
          <a:xfrm>
            <a:off x="5120640" y="5303520"/>
            <a:ext cx="2011680" cy="548640"/>
          </a:xfrm>
          <a:prstGeom prst="rect">
            <a:avLst/>
          </a:prstGeom>
          <a:noFill/>
        </p:spPr>
        <p:txBody>
          <a:bodyPr wrap="square" lIns="60000" rIns="60000" tIns="40000" bIns="40000" anchor="ctr">
            <a:spAutoFit/>
          </a:bodyPr>
          <a:lstStyle/>
          <a:p>
            <a:pPr algn="ctr"/>
            <a:r>
              <a:rPr sz="1600" b="1">
                <a:solidFill>
                  <a:srgbClr val="DC2626"/>
                </a:solidFill>
                <a:latin typeface="Calibri"/>
              </a:rPr>
              <a:t>❌ Error</a:t>
            </a:r>
          </a:p>
        </p:txBody>
      </p:sp>
      <p:sp>
        <p:nvSpPr>
          <p:cNvPr id="25" name="Rounded Rectangle 24"/>
          <p:cNvSpPr/>
          <p:nvPr/>
        </p:nvSpPr>
        <p:spPr>
          <a:xfrm>
            <a:off x="7315199" y="4846320"/>
            <a:ext cx="2011680" cy="1188720"/>
          </a:xfrm>
          <a:prstGeom prst="round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199" y="4937760"/>
            <a:ext cx="2011680" cy="365760"/>
          </a:xfrm>
          <a:prstGeom prst="rect">
            <a:avLst/>
          </a:prstGeom>
          <a:noFill/>
        </p:spPr>
        <p:txBody>
          <a:bodyPr wrap="square" lIns="60000" rIns="60000" tIns="40000" bIns="40000" anchor="t">
            <a:spAutoFit/>
          </a:bodyPr>
          <a:lstStyle/>
          <a:p>
            <a:pPr algn="ctr"/>
            <a:r>
              <a:rPr sz="1100" b="1">
                <a:solidFill>
                  <a:srgbClr val="9CA3AF"/>
                </a:solidFill>
                <a:latin typeface="Calibri"/>
              </a:rPr>
              <a:t>08:14</a:t>
            </a:r>
          </a:p>
        </p:txBody>
      </p:sp>
      <p:sp>
        <p:nvSpPr>
          <p:cNvPr id="27" name="TextBox 26"/>
          <p:cNvSpPr txBox="1"/>
          <p:nvPr/>
        </p:nvSpPr>
        <p:spPr>
          <a:xfrm>
            <a:off x="7315199" y="5303520"/>
            <a:ext cx="2011680" cy="548640"/>
          </a:xfrm>
          <a:prstGeom prst="rect">
            <a:avLst/>
          </a:prstGeom>
          <a:noFill/>
        </p:spPr>
        <p:txBody>
          <a:bodyPr wrap="square" lIns="60000" rIns="60000" tIns="40000" bIns="40000" anchor="ctr">
            <a:spAutoFit/>
          </a:bodyPr>
          <a:lstStyle/>
          <a:p>
            <a:pPr algn="ctr"/>
            <a:r>
              <a:rPr sz="1600" b="1">
                <a:solidFill>
                  <a:srgbClr val="16A34A"/>
                </a:solidFill>
                <a:latin typeface="Calibri"/>
              </a:rPr>
              <a:t>✅ Success</a:t>
            </a:r>
          </a:p>
        </p:txBody>
      </p:sp>
      <p:sp>
        <p:nvSpPr>
          <p:cNvPr id="28" name="Rounded Rectangle 27"/>
          <p:cNvSpPr/>
          <p:nvPr/>
        </p:nvSpPr>
        <p:spPr>
          <a:xfrm>
            <a:off x="9509760" y="4846320"/>
            <a:ext cx="2011680" cy="1188720"/>
          </a:xfrm>
          <a:prstGeom prst="roundRect">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0" y="4937760"/>
            <a:ext cx="2011680" cy="365760"/>
          </a:xfrm>
          <a:prstGeom prst="rect">
            <a:avLst/>
          </a:prstGeom>
          <a:noFill/>
        </p:spPr>
        <p:txBody>
          <a:bodyPr wrap="square" lIns="60000" rIns="60000" tIns="40000" bIns="40000" anchor="t">
            <a:spAutoFit/>
          </a:bodyPr>
          <a:lstStyle/>
          <a:p>
            <a:pPr algn="ctr"/>
            <a:r>
              <a:rPr sz="1100" b="1">
                <a:solidFill>
                  <a:srgbClr val="9CA3AF"/>
                </a:solidFill>
                <a:latin typeface="Calibri"/>
              </a:rPr>
              <a:t/>
            </a:r>
          </a:p>
        </p:txBody>
      </p:sp>
      <p:sp>
        <p:nvSpPr>
          <p:cNvPr id="30" name="TextBox 29"/>
          <p:cNvSpPr txBox="1"/>
          <p:nvPr/>
        </p:nvSpPr>
        <p:spPr>
          <a:xfrm>
            <a:off x="9509760" y="5303520"/>
            <a:ext cx="2011680" cy="548640"/>
          </a:xfrm>
          <a:prstGeom prst="rect">
            <a:avLst/>
          </a:prstGeom>
          <a:noFill/>
        </p:spPr>
        <p:txBody>
          <a:bodyPr wrap="square" lIns="60000" rIns="60000" tIns="40000" bIns="40000" anchor="ctr">
            <a:spAutoFit/>
          </a:bodyPr>
          <a:lstStyle/>
          <a:p>
            <a:pPr algn="ctr"/>
            <a:r>
              <a:rPr sz="1600" b="1">
                <a:solidFill>
                  <a:srgbClr val="1E3A8A"/>
                </a:solidFill>
                <a:latin typeface="Calibri"/>
              </a:rPr>
              <a:t>780 items</a:t>
            </a:r>
          </a:p>
        </p:txBody>
      </p:sp>
      <p:sp>
        <p:nvSpPr>
          <p:cNvPr id="31" name="TextBox 30"/>
          <p:cNvSpPr txBox="1"/>
          <p:nvPr/>
        </p:nvSpPr>
        <p:spPr>
          <a:xfrm>
            <a:off x="457200" y="6172200"/>
            <a:ext cx="11247120" cy="228600"/>
          </a:xfrm>
          <a:prstGeom prst="rect">
            <a:avLst/>
          </a:prstGeom>
          <a:noFill/>
        </p:spPr>
        <p:txBody>
          <a:bodyPr wrap="square" lIns="60000" rIns="60000" tIns="40000" bIns="40000" anchor="t">
            <a:spAutoFit/>
          </a:bodyPr>
          <a:lstStyle/>
          <a:p>
            <a:pPr algn="ctr"/>
            <a:r>
              <a:rPr sz="1200" b="0">
                <a:solidFill>
                  <a:srgbClr val="333333"/>
                </a:solidFill>
                <a:latin typeface="Calibri"/>
              </a:rPr>
              <a:t>→ Le pipeline retry automatiquement et finit par passer. Résilience prouvée.</a:t>
            </a:r>
          </a:p>
        </p:txBody>
      </p:sp>
      <p:sp>
        <p:nvSpPr>
          <p:cNvPr id="32" name="Rectangle 31"/>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4" name="TextBox 33"/>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Chatbot JumiBot</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Architecture hybride IA + logique locale</a:t>
            </a:r>
          </a:p>
        </p:txBody>
      </p:sp>
      <p:sp>
        <p:nvSpPr>
          <p:cNvPr id="6" name="Rounded Rectangle 5"/>
          <p:cNvSpPr/>
          <p:nvPr/>
        </p:nvSpPr>
        <p:spPr>
          <a:xfrm>
            <a:off x="457200" y="2926080"/>
            <a:ext cx="1828800" cy="914400"/>
          </a:xfrm>
          <a:prstGeom prst="round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926080"/>
            <a:ext cx="1828800" cy="914400"/>
          </a:xfrm>
          <a:prstGeom prst="rect">
            <a:avLst/>
          </a:prstGeom>
          <a:noFill/>
        </p:spPr>
        <p:txBody>
          <a:bodyPr wrap="square" lIns="60000" rIns="60000" tIns="40000" bIns="40000" anchor="ctr">
            <a:spAutoFit/>
          </a:bodyPr>
          <a:lstStyle/>
          <a:p>
            <a:pPr algn="ctr"/>
            <a:r>
              <a:rPr sz="1400" b="1">
                <a:solidFill>
                  <a:srgbClr val="FFFFFF"/>
                </a:solidFill>
                <a:latin typeface="Calibri"/>
              </a:rPr>
              <a:t>Utilisateur</a:t>
            </a:r>
          </a:p>
        </p:txBody>
      </p:sp>
      <p:cxnSp>
        <p:nvCxnSpPr>
          <p:cNvPr id="8" name="Connector 7"/>
          <p:cNvCxnSpPr/>
          <p:nvPr/>
        </p:nvCxnSpPr>
        <p:spPr>
          <a:xfrm>
            <a:off x="2286000" y="3383280"/>
            <a:ext cx="914400" cy="0"/>
          </a:xfrm>
          <a:prstGeom prst="line">
            <a:avLst/>
          </a:prstGeom>
          <a:ln w="31750">
            <a:solidFill>
              <a:srgbClr val="9CA3A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00400" y="2926080"/>
            <a:ext cx="2103120" cy="91440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2926080"/>
            <a:ext cx="2103120" cy="914400"/>
          </a:xfrm>
          <a:prstGeom prst="rect">
            <a:avLst/>
          </a:prstGeom>
          <a:noFill/>
        </p:spPr>
        <p:txBody>
          <a:bodyPr wrap="square" lIns="60000" rIns="60000" tIns="40000" bIns="40000" anchor="ctr">
            <a:spAutoFit/>
          </a:bodyPr>
          <a:lstStyle/>
          <a:p>
            <a:pPr algn="ctr"/>
            <a:r>
              <a:rPr sz="1300" b="1">
                <a:solidFill>
                  <a:srgbClr val="FFFFFF"/>
                </a:solidFill>
                <a:latin typeface="Calibri"/>
              </a:rPr>
              <a:t>API /chat
(Flask)</a:t>
            </a:r>
          </a:p>
        </p:txBody>
      </p:sp>
      <p:cxnSp>
        <p:nvCxnSpPr>
          <p:cNvPr id="11" name="Connector 10"/>
          <p:cNvCxnSpPr/>
          <p:nvPr/>
        </p:nvCxnSpPr>
        <p:spPr>
          <a:xfrm flipV="1">
            <a:off x="5303520" y="1737360"/>
            <a:ext cx="1280160" cy="1463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03520" y="3566160"/>
            <a:ext cx="1280160" cy="1463040"/>
          </a:xfrm>
          <a:prstGeom prst="line">
            <a:avLst/>
          </a:prstGeom>
          <a:ln w="25400">
            <a:solidFill>
              <a:srgbClr val="F9731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83680" y="1280160"/>
            <a:ext cx="5120640" cy="182880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1280160"/>
            <a:ext cx="5120640"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280160"/>
            <a:ext cx="5120640" cy="457200"/>
          </a:xfrm>
          <a:prstGeom prst="rect">
            <a:avLst/>
          </a:prstGeom>
          <a:noFill/>
        </p:spPr>
        <p:txBody>
          <a:bodyPr wrap="square" lIns="60000" rIns="60000" tIns="40000" bIns="40000" anchor="ctr">
            <a:spAutoFit/>
          </a:bodyPr>
          <a:lstStyle/>
          <a:p>
            <a:pPr algn="ctr"/>
            <a:r>
              <a:rPr sz="1300" b="1">
                <a:solidFill>
                  <a:srgbClr val="FFFFFF"/>
                </a:solidFill>
                <a:latin typeface="Calibri"/>
              </a:rPr>
              <a:t>NLU locale (côté serveur)</a:t>
            </a:r>
          </a:p>
        </p:txBody>
      </p:sp>
      <p:sp>
        <p:nvSpPr>
          <p:cNvPr id="16" name="TextBox 15"/>
          <p:cNvSpPr txBox="1"/>
          <p:nvPr/>
        </p:nvSpPr>
        <p:spPr>
          <a:xfrm>
            <a:off x="6766560" y="1828800"/>
            <a:ext cx="4846320" cy="1234440"/>
          </a:xfrm>
          <a:prstGeom prst="rect">
            <a:avLst/>
          </a:prstGeom>
          <a:noFill/>
        </p:spPr>
        <p:txBody>
          <a:bodyPr wrap="square" lIns="80000">
            <a:spAutoFit/>
          </a:bodyPr>
          <a:lstStyle/>
          <a:p>
            <a:pPr algn="l">
              <a:spcAft>
                <a:spcPts val="800"/>
              </a:spcAft>
            </a:pPr>
            <a:r>
              <a:rPr sz="1100" b="0">
                <a:solidFill>
                  <a:srgbClr val="333333"/>
                </a:solidFill>
                <a:latin typeface="Calibri"/>
              </a:rPr>
              <a:t>•  Extraction filtres (source, prix, catégorie)</a:t>
            </a:r>
          </a:p>
          <a:p>
            <a:pPr algn="l">
              <a:spcAft>
                <a:spcPts val="800"/>
              </a:spcAft>
            </a:pPr>
            <a:r>
              <a:rPr sz="1100" b="0">
                <a:solidFill>
                  <a:srgbClr val="333333"/>
                </a:solidFill>
                <a:latin typeface="Calibri"/>
              </a:rPr>
              <a:t>•  Recherche produits pertinents en DB</a:t>
            </a:r>
          </a:p>
          <a:p>
            <a:pPr algn="l">
              <a:spcAft>
                <a:spcPts val="800"/>
              </a:spcAft>
            </a:pPr>
            <a:r>
              <a:rPr sz="1100" b="0">
                <a:solidFill>
                  <a:srgbClr val="333333"/>
                </a:solidFill>
                <a:latin typeface="Calibri"/>
              </a:rPr>
              <a:t>•  Fallback conversationnel (salut, merci...)</a:t>
            </a:r>
          </a:p>
          <a:p>
            <a:pPr algn="l">
              <a:spcAft>
                <a:spcPts val="800"/>
              </a:spcAft>
            </a:pPr>
            <a:r>
              <a:rPr sz="1100" b="0">
                <a:solidFill>
                  <a:srgbClr val="333333"/>
                </a:solidFill>
                <a:latin typeface="Calibri"/>
              </a:rPr>
              <a:t>•  Fonctionne sans internet</a:t>
            </a:r>
          </a:p>
        </p:txBody>
      </p:sp>
      <p:sp>
        <p:nvSpPr>
          <p:cNvPr id="17" name="Rounded Rectangle 16"/>
          <p:cNvSpPr/>
          <p:nvPr/>
        </p:nvSpPr>
        <p:spPr>
          <a:xfrm>
            <a:off x="6583680" y="4572000"/>
            <a:ext cx="5120640" cy="1828800"/>
          </a:xfrm>
          <a:prstGeom prst="roundRect">
            <a:avLst/>
          </a:prstGeom>
          <a:solidFill>
            <a:srgbClr val="FFEDD5"/>
          </a:solidFill>
          <a:ln w="127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0" y="4572000"/>
            <a:ext cx="512064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572000"/>
            <a:ext cx="5120640" cy="457200"/>
          </a:xfrm>
          <a:prstGeom prst="rect">
            <a:avLst/>
          </a:prstGeom>
          <a:noFill/>
        </p:spPr>
        <p:txBody>
          <a:bodyPr wrap="square" lIns="60000" rIns="60000" tIns="40000" bIns="40000" anchor="ctr">
            <a:spAutoFit/>
          </a:bodyPr>
          <a:lstStyle/>
          <a:p>
            <a:pPr algn="ctr"/>
            <a:r>
              <a:rPr sz="1300" b="1">
                <a:solidFill>
                  <a:srgbClr val="FFFFFF"/>
                </a:solidFill>
                <a:latin typeface="Calibri"/>
              </a:rPr>
              <a:t>LLM Llama 3.3 70B (Groq API)</a:t>
            </a:r>
          </a:p>
        </p:txBody>
      </p:sp>
      <p:sp>
        <p:nvSpPr>
          <p:cNvPr id="20" name="TextBox 19"/>
          <p:cNvSpPr txBox="1"/>
          <p:nvPr/>
        </p:nvSpPr>
        <p:spPr>
          <a:xfrm>
            <a:off x="6766560" y="5120640"/>
            <a:ext cx="4846320" cy="1234440"/>
          </a:xfrm>
          <a:prstGeom prst="rect">
            <a:avLst/>
          </a:prstGeom>
          <a:noFill/>
        </p:spPr>
        <p:txBody>
          <a:bodyPr wrap="square" lIns="80000">
            <a:spAutoFit/>
          </a:bodyPr>
          <a:lstStyle/>
          <a:p>
            <a:pPr algn="l">
              <a:spcAft>
                <a:spcPts val="800"/>
              </a:spcAft>
            </a:pPr>
            <a:r>
              <a:rPr sz="1100" b="0">
                <a:solidFill>
                  <a:srgbClr val="333333"/>
                </a:solidFill>
                <a:latin typeface="Calibri"/>
              </a:rPr>
              <a:t>•  Reçoit stats DB réelles dans le prompt</a:t>
            </a:r>
          </a:p>
          <a:p>
            <a:pPr algn="l">
              <a:spcAft>
                <a:spcPts val="800"/>
              </a:spcAft>
            </a:pPr>
            <a:r>
              <a:rPr sz="1100" b="0">
                <a:solidFill>
                  <a:srgbClr val="333333"/>
                </a:solidFill>
                <a:latin typeface="Calibri"/>
              </a:rPr>
              <a:t>•  Reçoit la liste de produits trouvés</a:t>
            </a:r>
          </a:p>
          <a:p>
            <a:pPr algn="l">
              <a:spcAft>
                <a:spcPts val="800"/>
              </a:spcAft>
            </a:pPr>
            <a:r>
              <a:rPr sz="1100" b="0">
                <a:solidFill>
                  <a:srgbClr val="333333"/>
                </a:solidFill>
                <a:latin typeface="Calibri"/>
              </a:rPr>
              <a:t>•  Formule une réponse naturelle et engageante</a:t>
            </a:r>
          </a:p>
          <a:p>
            <a:pPr algn="l">
              <a:spcAft>
                <a:spcPts val="800"/>
              </a:spcAft>
            </a:pPr>
            <a:r>
              <a:rPr sz="1100" b="0">
                <a:solidFill>
                  <a:srgbClr val="333333"/>
                </a:solidFill>
                <a:latin typeface="Calibri"/>
              </a:rPr>
              <a:t>•  Zéro hallucination (données factuelles)</a:t>
            </a:r>
          </a:p>
        </p:txBody>
      </p:sp>
      <p:sp>
        <p:nvSpPr>
          <p:cNvPr id="21" name="Rounded Rectangle 20"/>
          <p:cNvSpPr/>
          <p:nvPr/>
        </p:nvSpPr>
        <p:spPr>
          <a:xfrm>
            <a:off x="457200" y="4937760"/>
            <a:ext cx="5303520" cy="1371600"/>
          </a:xfrm>
          <a:prstGeom prst="roundRect">
            <a:avLst/>
          </a:prstGeom>
          <a:solidFill>
            <a:srgbClr val="DBEAFE"/>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37760"/>
            <a:ext cx="5303520" cy="365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937760"/>
            <a:ext cx="5303520" cy="365760"/>
          </a:xfrm>
          <a:prstGeom prst="rect">
            <a:avLst/>
          </a:prstGeom>
          <a:noFill/>
        </p:spPr>
        <p:txBody>
          <a:bodyPr wrap="square" lIns="60000" rIns="60000" tIns="40000" bIns="40000" anchor="ctr">
            <a:spAutoFit/>
          </a:bodyPr>
          <a:lstStyle/>
          <a:p>
            <a:pPr algn="ctr"/>
            <a:r>
              <a:rPr sz="1200" b="1">
                <a:solidFill>
                  <a:srgbClr val="FFFFFF"/>
                </a:solidFill>
                <a:latin typeface="Calibri"/>
              </a:rPr>
              <a:t>PostgreSQL — source de vérité</a:t>
            </a:r>
          </a:p>
        </p:txBody>
      </p:sp>
      <p:sp>
        <p:nvSpPr>
          <p:cNvPr id="24" name="TextBox 23"/>
          <p:cNvSpPr txBox="1"/>
          <p:nvPr/>
        </p:nvSpPr>
        <p:spPr>
          <a:xfrm>
            <a:off x="640080" y="5394960"/>
            <a:ext cx="4937760" cy="822960"/>
          </a:xfrm>
          <a:prstGeom prst="rect">
            <a:avLst/>
          </a:prstGeom>
          <a:noFill/>
        </p:spPr>
        <p:txBody>
          <a:bodyPr wrap="square" lIns="60000" rIns="60000" tIns="40000" bIns="40000" anchor="ctr">
            <a:spAutoFit/>
          </a:bodyPr>
          <a:lstStyle/>
          <a:p>
            <a:pPr algn="l"/>
            <a:r>
              <a:rPr sz="1100" b="0">
                <a:solidFill>
                  <a:srgbClr val="333333"/>
                </a:solidFill>
                <a:latin typeface="Calibri"/>
              </a:rPr>
              <a:t>Stats (1930 produits, 24 catégories, 1088 promos)
Produits filtrés selon la requête</a:t>
            </a:r>
          </a:p>
        </p:txBody>
      </p:sp>
      <p:cxnSp>
        <p:nvCxnSpPr>
          <p:cNvPr id="25" name="Connector 24"/>
          <p:cNvCxnSpPr/>
          <p:nvPr/>
        </p:nvCxnSpPr>
        <p:spPr>
          <a:xfrm flipV="1">
            <a:off x="4114800" y="2194560"/>
            <a:ext cx="2468880" cy="2743200"/>
          </a:xfrm>
          <a:prstGeom prst="line">
            <a:avLst/>
          </a:prstGeom>
          <a:ln w="19050">
            <a:solidFill>
              <a:srgbClr val="1E3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14800" y="5303520"/>
            <a:ext cx="2468880" cy="182880"/>
          </a:xfrm>
          <a:prstGeom prst="line">
            <a:avLst/>
          </a:prstGeom>
          <a:ln w="19050">
            <a:solidFill>
              <a:srgbClr val="1E3A8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29" name="TextBox 28"/>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Monitoring</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Prometheus + Grafana — observabilité en temps réel</a:t>
            </a:r>
          </a:p>
        </p:txBody>
      </p:sp>
      <p:sp>
        <p:nvSpPr>
          <p:cNvPr id="6" name="Rounded Rectangle 5"/>
          <p:cNvSpPr/>
          <p:nvPr/>
        </p:nvSpPr>
        <p:spPr>
          <a:xfrm>
            <a:off x="457200" y="1463040"/>
            <a:ext cx="5577840" cy="2377440"/>
          </a:xfrm>
          <a:prstGeom prst="roundRect">
            <a:avLst/>
          </a:prstGeom>
          <a:solidFill>
            <a:srgbClr val="FFFFFF"/>
          </a:solidFill>
          <a:ln w="127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557784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5577840" cy="457200"/>
          </a:xfrm>
          <a:prstGeom prst="rect">
            <a:avLst/>
          </a:prstGeom>
          <a:noFill/>
        </p:spPr>
        <p:txBody>
          <a:bodyPr wrap="square" lIns="60000" rIns="60000" tIns="40000" bIns="40000" anchor="ctr">
            <a:spAutoFit/>
          </a:bodyPr>
          <a:lstStyle/>
          <a:p>
            <a:pPr algn="ctr"/>
            <a:r>
              <a:rPr sz="1400" b="1">
                <a:solidFill>
                  <a:srgbClr val="FFFFFF"/>
                </a:solidFill>
                <a:latin typeface="Calibri"/>
              </a:rPr>
              <a:t>Prometheus — Collecte</a:t>
            </a:r>
          </a:p>
        </p:txBody>
      </p:sp>
      <p:sp>
        <p:nvSpPr>
          <p:cNvPr id="9" name="TextBox 8"/>
          <p:cNvSpPr txBox="1"/>
          <p:nvPr/>
        </p:nvSpPr>
        <p:spPr>
          <a:xfrm>
            <a:off x="640080" y="2057400"/>
            <a:ext cx="5303520" cy="1737360"/>
          </a:xfrm>
          <a:prstGeom prst="rect">
            <a:avLst/>
          </a:prstGeom>
          <a:noFill/>
        </p:spPr>
        <p:txBody>
          <a:bodyPr wrap="square" lIns="80000">
            <a:spAutoFit/>
          </a:bodyPr>
          <a:lstStyle/>
          <a:p>
            <a:pPr algn="l">
              <a:spcAft>
                <a:spcPts val="800"/>
              </a:spcAft>
            </a:pPr>
            <a:r>
              <a:rPr sz="1300" b="0">
                <a:solidFill>
                  <a:srgbClr val="333333"/>
                </a:solidFill>
                <a:latin typeface="Calibri"/>
              </a:rPr>
              <a:t>•  Scrape /metrics toutes les 15 secondes</a:t>
            </a:r>
          </a:p>
          <a:p>
            <a:pPr algn="l">
              <a:spcAft>
                <a:spcPts val="800"/>
              </a:spcAft>
            </a:pPr>
            <a:r>
              <a:rPr sz="1300" b="0">
                <a:solidFill>
                  <a:srgbClr val="333333"/>
                </a:solidFill>
                <a:latin typeface="Calibri"/>
              </a:rPr>
              <a:t>•  6 métriques custom exposées par l'API</a:t>
            </a:r>
          </a:p>
          <a:p>
            <a:pPr algn="l">
              <a:spcAft>
                <a:spcPts val="800"/>
              </a:spcAft>
            </a:pPr>
            <a:r>
              <a:rPr sz="1300" b="0">
                <a:solidFill>
                  <a:srgbClr val="333333"/>
                </a:solidFill>
                <a:latin typeface="Calibri"/>
              </a:rPr>
              <a:t>•  Stockage en base TSDB intégré</a:t>
            </a:r>
          </a:p>
          <a:p>
            <a:pPr algn="l">
              <a:spcAft>
                <a:spcPts val="800"/>
              </a:spcAft>
            </a:pPr>
            <a:r>
              <a:rPr sz="1300" b="0">
                <a:solidFill>
                  <a:srgbClr val="333333"/>
                </a:solidFill>
                <a:latin typeface="Calibri"/>
              </a:rPr>
              <a:t>•  up == 1 sur api:5000 et prometheus:9090</a:t>
            </a:r>
          </a:p>
        </p:txBody>
      </p:sp>
      <p:sp>
        <p:nvSpPr>
          <p:cNvPr id="10" name="Rounded Rectangle 9"/>
          <p:cNvSpPr/>
          <p:nvPr/>
        </p:nvSpPr>
        <p:spPr>
          <a:xfrm>
            <a:off x="6217920" y="1463040"/>
            <a:ext cx="5486400" cy="2377440"/>
          </a:xfrm>
          <a:prstGeom prst="roundRect">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63040"/>
            <a:ext cx="5486400" cy="4572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463040"/>
            <a:ext cx="5486400" cy="457200"/>
          </a:xfrm>
          <a:prstGeom prst="rect">
            <a:avLst/>
          </a:prstGeom>
          <a:noFill/>
        </p:spPr>
        <p:txBody>
          <a:bodyPr wrap="square" lIns="60000" rIns="60000" tIns="40000" bIns="40000" anchor="ctr">
            <a:spAutoFit/>
          </a:bodyPr>
          <a:lstStyle/>
          <a:p>
            <a:pPr algn="ctr"/>
            <a:r>
              <a:rPr sz="1400" b="1">
                <a:solidFill>
                  <a:srgbClr val="FFFFFF"/>
                </a:solidFill>
                <a:latin typeface="Calibri"/>
              </a:rPr>
              <a:t>Grafana — Visualisation</a:t>
            </a:r>
          </a:p>
        </p:txBody>
      </p:sp>
      <p:sp>
        <p:nvSpPr>
          <p:cNvPr id="13" name="TextBox 12"/>
          <p:cNvSpPr txBox="1"/>
          <p:nvPr/>
        </p:nvSpPr>
        <p:spPr>
          <a:xfrm>
            <a:off x="6400800" y="2057400"/>
            <a:ext cx="5212080" cy="1737360"/>
          </a:xfrm>
          <a:prstGeom prst="rect">
            <a:avLst/>
          </a:prstGeom>
          <a:noFill/>
        </p:spPr>
        <p:txBody>
          <a:bodyPr wrap="square" lIns="80000">
            <a:spAutoFit/>
          </a:bodyPr>
          <a:lstStyle/>
          <a:p>
            <a:pPr algn="l">
              <a:spcAft>
                <a:spcPts val="800"/>
              </a:spcAft>
            </a:pPr>
            <a:r>
              <a:rPr sz="1300" b="0">
                <a:solidFill>
                  <a:srgbClr val="333333"/>
                </a:solidFill>
                <a:latin typeface="Calibri"/>
              </a:rPr>
              <a:t>•  Dashboard provisionné automatiquement</a:t>
            </a:r>
          </a:p>
          <a:p>
            <a:pPr algn="l">
              <a:spcAft>
                <a:spcPts val="800"/>
              </a:spcAft>
            </a:pPr>
            <a:r>
              <a:rPr sz="1300" b="0">
                <a:solidFill>
                  <a:srgbClr val="333333"/>
                </a:solidFill>
                <a:latin typeface="Calibri"/>
              </a:rPr>
              <a:t>•  Graphes : requêtes/sec, latence, erreurs</a:t>
            </a:r>
          </a:p>
          <a:p>
            <a:pPr algn="l">
              <a:spcAft>
                <a:spcPts val="800"/>
              </a:spcAft>
            </a:pPr>
            <a:r>
              <a:rPr sz="1300" b="0">
                <a:solidFill>
                  <a:srgbClr val="333333"/>
                </a:solidFill>
                <a:latin typeface="Calibri"/>
              </a:rPr>
              <a:t>•  Auto-refresh 30 s, data source Prometheus</a:t>
            </a:r>
          </a:p>
          <a:p>
            <a:pPr algn="l">
              <a:spcAft>
                <a:spcPts val="800"/>
              </a:spcAft>
            </a:pPr>
            <a:r>
              <a:rPr sz="1300" b="0">
                <a:solidFill>
                  <a:srgbClr val="333333"/>
                </a:solidFill>
                <a:latin typeface="Calibri"/>
              </a:rPr>
              <a:t>•  Accessible sur http://localhost:3000</a:t>
            </a:r>
          </a:p>
        </p:txBody>
      </p:sp>
      <p:sp>
        <p:nvSpPr>
          <p:cNvPr id="14" name="Rounded Rectangle 13"/>
          <p:cNvSpPr/>
          <p:nvPr/>
        </p:nvSpPr>
        <p:spPr>
          <a:xfrm>
            <a:off x="457200" y="4206240"/>
            <a:ext cx="11247120" cy="210312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97680"/>
            <a:ext cx="10972800" cy="365760"/>
          </a:xfrm>
          <a:prstGeom prst="rect">
            <a:avLst/>
          </a:prstGeom>
          <a:noFill/>
        </p:spPr>
        <p:txBody>
          <a:bodyPr wrap="square" lIns="60000" rIns="60000" tIns="40000" bIns="40000" anchor="t">
            <a:spAutoFit/>
          </a:bodyPr>
          <a:lstStyle/>
          <a:p>
            <a:pPr algn="l"/>
            <a:r>
              <a:rPr sz="1400" b="1">
                <a:solidFill>
                  <a:srgbClr val="1E3A8A"/>
                </a:solidFill>
                <a:latin typeface="Calibri"/>
              </a:rPr>
              <a:t>Statistiques réelles de production</a:t>
            </a:r>
          </a:p>
        </p:txBody>
      </p:sp>
      <p:sp>
        <p:nvSpPr>
          <p:cNvPr id="16" name="Rounded Rectangle 15"/>
          <p:cNvSpPr/>
          <p:nvPr/>
        </p:nvSpPr>
        <p:spPr>
          <a:xfrm>
            <a:off x="731520" y="4846320"/>
            <a:ext cx="2011680" cy="1188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937760"/>
            <a:ext cx="2011680" cy="640080"/>
          </a:xfrm>
          <a:prstGeom prst="rect">
            <a:avLst/>
          </a:prstGeom>
          <a:noFill/>
        </p:spPr>
        <p:txBody>
          <a:bodyPr wrap="square" lIns="60000" rIns="60000" tIns="40000" bIns="40000" anchor="ctr">
            <a:spAutoFit/>
          </a:bodyPr>
          <a:lstStyle/>
          <a:p>
            <a:pPr algn="ctr"/>
            <a:r>
              <a:rPr sz="3000" b="1">
                <a:solidFill>
                  <a:srgbClr val="16A34A"/>
                </a:solidFill>
                <a:latin typeface="Calibri"/>
              </a:rPr>
              <a:t>2 546</a:t>
            </a:r>
          </a:p>
        </p:txBody>
      </p:sp>
      <p:sp>
        <p:nvSpPr>
          <p:cNvPr id="18" name="TextBox 17"/>
          <p:cNvSpPr txBox="1"/>
          <p:nvPr/>
        </p:nvSpPr>
        <p:spPr>
          <a:xfrm>
            <a:off x="731520" y="5577840"/>
            <a:ext cx="2011680" cy="365760"/>
          </a:xfrm>
          <a:prstGeom prst="rect">
            <a:avLst/>
          </a:prstGeom>
          <a:noFill/>
        </p:spPr>
        <p:txBody>
          <a:bodyPr wrap="square" lIns="60000" rIns="60000" tIns="40000" bIns="40000" anchor="ctr">
            <a:spAutoFit/>
          </a:bodyPr>
          <a:lstStyle/>
          <a:p>
            <a:pPr algn="ctr"/>
            <a:r>
              <a:rPr sz="1100" b="0">
                <a:solidFill>
                  <a:srgbClr val="333333"/>
                </a:solidFill>
                <a:latin typeface="Calibri"/>
              </a:rPr>
              <a:t>GET 200</a:t>
            </a:r>
          </a:p>
        </p:txBody>
      </p:sp>
      <p:sp>
        <p:nvSpPr>
          <p:cNvPr id="19" name="Rounded Rectangle 18"/>
          <p:cNvSpPr/>
          <p:nvPr/>
        </p:nvSpPr>
        <p:spPr>
          <a:xfrm>
            <a:off x="2926080" y="4846320"/>
            <a:ext cx="2011680" cy="1188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0" y="4937760"/>
            <a:ext cx="2011680" cy="640080"/>
          </a:xfrm>
          <a:prstGeom prst="rect">
            <a:avLst/>
          </a:prstGeom>
          <a:noFill/>
        </p:spPr>
        <p:txBody>
          <a:bodyPr wrap="square" lIns="60000" rIns="60000" tIns="40000" bIns="40000" anchor="ctr">
            <a:spAutoFit/>
          </a:bodyPr>
          <a:lstStyle/>
          <a:p>
            <a:pPr algn="ctr"/>
            <a:r>
              <a:rPr sz="3000" b="1">
                <a:solidFill>
                  <a:srgbClr val="16A34A"/>
                </a:solidFill>
                <a:latin typeface="Calibri"/>
              </a:rPr>
              <a:t>0</a:t>
            </a:r>
          </a:p>
        </p:txBody>
      </p:sp>
      <p:sp>
        <p:nvSpPr>
          <p:cNvPr id="21" name="TextBox 20"/>
          <p:cNvSpPr txBox="1"/>
          <p:nvPr/>
        </p:nvSpPr>
        <p:spPr>
          <a:xfrm>
            <a:off x="2926080" y="5577840"/>
            <a:ext cx="2011680" cy="365760"/>
          </a:xfrm>
          <a:prstGeom prst="rect">
            <a:avLst/>
          </a:prstGeom>
          <a:noFill/>
        </p:spPr>
        <p:txBody>
          <a:bodyPr wrap="square" lIns="60000" rIns="60000" tIns="40000" bIns="40000" anchor="ctr">
            <a:spAutoFit/>
          </a:bodyPr>
          <a:lstStyle/>
          <a:p>
            <a:pPr algn="ctr"/>
            <a:r>
              <a:rPr sz="1100" b="0">
                <a:solidFill>
                  <a:srgbClr val="333333"/>
                </a:solidFill>
                <a:latin typeface="Calibri"/>
              </a:rPr>
              <a:t>Erreurs 5xx</a:t>
            </a:r>
          </a:p>
        </p:txBody>
      </p:sp>
      <p:sp>
        <p:nvSpPr>
          <p:cNvPr id="22" name="Rounded Rectangle 21"/>
          <p:cNvSpPr/>
          <p:nvPr/>
        </p:nvSpPr>
        <p:spPr>
          <a:xfrm>
            <a:off x="5120640" y="4846320"/>
            <a:ext cx="2011680" cy="1188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4937760"/>
            <a:ext cx="2011680" cy="640080"/>
          </a:xfrm>
          <a:prstGeom prst="rect">
            <a:avLst/>
          </a:prstGeom>
          <a:noFill/>
        </p:spPr>
        <p:txBody>
          <a:bodyPr wrap="square" lIns="60000" rIns="60000" tIns="40000" bIns="40000" anchor="ctr">
            <a:spAutoFit/>
          </a:bodyPr>
          <a:lstStyle/>
          <a:p>
            <a:pPr algn="ctr"/>
            <a:r>
              <a:rPr sz="3000" b="1">
                <a:solidFill>
                  <a:srgbClr val="9CA3AF"/>
                </a:solidFill>
                <a:latin typeface="Calibri"/>
              </a:rPr>
              <a:t>520</a:t>
            </a:r>
          </a:p>
        </p:txBody>
      </p:sp>
      <p:sp>
        <p:nvSpPr>
          <p:cNvPr id="24" name="TextBox 23"/>
          <p:cNvSpPr txBox="1"/>
          <p:nvPr/>
        </p:nvSpPr>
        <p:spPr>
          <a:xfrm>
            <a:off x="5120640" y="5577840"/>
            <a:ext cx="2011680" cy="365760"/>
          </a:xfrm>
          <a:prstGeom prst="rect">
            <a:avLst/>
          </a:prstGeom>
          <a:noFill/>
        </p:spPr>
        <p:txBody>
          <a:bodyPr wrap="square" lIns="60000" rIns="60000" tIns="40000" bIns="40000" anchor="ctr">
            <a:spAutoFit/>
          </a:bodyPr>
          <a:lstStyle/>
          <a:p>
            <a:pPr algn="ctr"/>
            <a:r>
              <a:rPr sz="1100" b="0">
                <a:solidFill>
                  <a:srgbClr val="333333"/>
                </a:solidFill>
                <a:latin typeface="Calibri"/>
              </a:rPr>
              <a:t>404 (scans bots)</a:t>
            </a:r>
          </a:p>
        </p:txBody>
      </p:sp>
      <p:sp>
        <p:nvSpPr>
          <p:cNvPr id="25" name="Rounded Rectangle 24"/>
          <p:cNvSpPr/>
          <p:nvPr/>
        </p:nvSpPr>
        <p:spPr>
          <a:xfrm>
            <a:off x="7315199" y="4846320"/>
            <a:ext cx="2011680" cy="1188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199" y="4937760"/>
            <a:ext cx="2011680" cy="640080"/>
          </a:xfrm>
          <a:prstGeom prst="rect">
            <a:avLst/>
          </a:prstGeom>
          <a:noFill/>
        </p:spPr>
        <p:txBody>
          <a:bodyPr wrap="square" lIns="60000" rIns="60000" tIns="40000" bIns="40000" anchor="ctr">
            <a:spAutoFit/>
          </a:bodyPr>
          <a:lstStyle/>
          <a:p>
            <a:pPr algn="ctr"/>
            <a:r>
              <a:rPr sz="3000" b="1">
                <a:solidFill>
                  <a:srgbClr val="9CA3AF"/>
                </a:solidFill>
                <a:latin typeface="Calibri"/>
              </a:rPr>
              <a:t>3</a:t>
            </a:r>
          </a:p>
        </p:txBody>
      </p:sp>
      <p:sp>
        <p:nvSpPr>
          <p:cNvPr id="27" name="TextBox 26"/>
          <p:cNvSpPr txBox="1"/>
          <p:nvPr/>
        </p:nvSpPr>
        <p:spPr>
          <a:xfrm>
            <a:off x="7315199" y="5577840"/>
            <a:ext cx="2011680" cy="365760"/>
          </a:xfrm>
          <a:prstGeom prst="rect">
            <a:avLst/>
          </a:prstGeom>
          <a:noFill/>
        </p:spPr>
        <p:txBody>
          <a:bodyPr wrap="square" lIns="60000" rIns="60000" tIns="40000" bIns="40000" anchor="ctr">
            <a:spAutoFit/>
          </a:bodyPr>
          <a:lstStyle/>
          <a:p>
            <a:pPr algn="ctr"/>
            <a:r>
              <a:rPr sz="1100" b="0">
                <a:solidFill>
                  <a:srgbClr val="333333"/>
                </a:solidFill>
                <a:latin typeface="Calibri"/>
              </a:rPr>
              <a:t>422 (validation)</a:t>
            </a:r>
          </a:p>
        </p:txBody>
      </p:sp>
      <p:sp>
        <p:nvSpPr>
          <p:cNvPr id="28" name="Rounded Rectangle 27"/>
          <p:cNvSpPr/>
          <p:nvPr/>
        </p:nvSpPr>
        <p:spPr>
          <a:xfrm>
            <a:off x="9509760" y="4846320"/>
            <a:ext cx="2011680" cy="1188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0" y="4937760"/>
            <a:ext cx="2011680" cy="640080"/>
          </a:xfrm>
          <a:prstGeom prst="rect">
            <a:avLst/>
          </a:prstGeom>
          <a:noFill/>
        </p:spPr>
        <p:txBody>
          <a:bodyPr wrap="square" lIns="60000" rIns="60000" tIns="40000" bIns="40000" anchor="ctr">
            <a:spAutoFit/>
          </a:bodyPr>
          <a:lstStyle/>
          <a:p>
            <a:pPr algn="ctr"/>
            <a:r>
              <a:rPr sz="3000" b="1">
                <a:solidFill>
                  <a:srgbClr val="16A34A"/>
                </a:solidFill>
                <a:latin typeface="Calibri"/>
              </a:rPr>
              <a:t>1</a:t>
            </a:r>
          </a:p>
        </p:txBody>
      </p:sp>
      <p:sp>
        <p:nvSpPr>
          <p:cNvPr id="30" name="TextBox 29"/>
          <p:cNvSpPr txBox="1"/>
          <p:nvPr/>
        </p:nvSpPr>
        <p:spPr>
          <a:xfrm>
            <a:off x="9509760" y="5577840"/>
            <a:ext cx="2011680" cy="365760"/>
          </a:xfrm>
          <a:prstGeom prst="rect">
            <a:avLst/>
          </a:prstGeom>
          <a:noFill/>
        </p:spPr>
        <p:txBody>
          <a:bodyPr wrap="square" lIns="60000" rIns="60000" tIns="40000" bIns="40000" anchor="ctr">
            <a:spAutoFit/>
          </a:bodyPr>
          <a:lstStyle/>
          <a:p>
            <a:pPr algn="ctr"/>
            <a:r>
              <a:rPr sz="1100" b="0">
                <a:solidFill>
                  <a:srgbClr val="333333"/>
                </a:solidFill>
                <a:latin typeface="Calibri"/>
              </a:rPr>
              <a:t>POST 201</a:t>
            </a:r>
          </a:p>
        </p:txBody>
      </p:sp>
      <p:sp>
        <p:nvSpPr>
          <p:cNvPr id="31" name="Rectangle 30"/>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3" name="TextBox 32"/>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Tests et qualité</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Garantir la robustesse du pipeline</a:t>
            </a:r>
          </a:p>
        </p:txBody>
      </p:sp>
      <p:sp>
        <p:nvSpPr>
          <p:cNvPr id="6" name="Rounded Rectangle 5"/>
          <p:cNvSpPr/>
          <p:nvPr/>
        </p:nvSpPr>
        <p:spPr>
          <a:xfrm>
            <a:off x="457200" y="1463040"/>
            <a:ext cx="3657600" cy="484632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3657600" cy="1828800"/>
          </a:xfrm>
          <a:prstGeom prst="rect">
            <a:avLst/>
          </a:prstGeom>
          <a:noFill/>
        </p:spPr>
        <p:txBody>
          <a:bodyPr wrap="square" lIns="60000" rIns="60000" tIns="40000" bIns="40000" anchor="ctr">
            <a:spAutoFit/>
          </a:bodyPr>
          <a:lstStyle/>
          <a:p>
            <a:pPr algn="ctr"/>
            <a:r>
              <a:rPr sz="15000" b="1">
                <a:solidFill>
                  <a:srgbClr val="F97316"/>
                </a:solidFill>
                <a:latin typeface="Calibri"/>
              </a:rPr>
              <a:t>42</a:t>
            </a:r>
          </a:p>
        </p:txBody>
      </p:sp>
      <p:sp>
        <p:nvSpPr>
          <p:cNvPr id="8" name="TextBox 7"/>
          <p:cNvSpPr txBox="1"/>
          <p:nvPr/>
        </p:nvSpPr>
        <p:spPr>
          <a:xfrm>
            <a:off x="457200" y="4114800"/>
            <a:ext cx="3657600" cy="640080"/>
          </a:xfrm>
          <a:prstGeom prst="rect">
            <a:avLst/>
          </a:prstGeom>
          <a:noFill/>
        </p:spPr>
        <p:txBody>
          <a:bodyPr wrap="square" lIns="60000" rIns="60000" tIns="40000" bIns="40000" anchor="ctr">
            <a:spAutoFit/>
          </a:bodyPr>
          <a:lstStyle/>
          <a:p>
            <a:pPr algn="ctr"/>
            <a:r>
              <a:rPr sz="2200" b="1">
                <a:solidFill>
                  <a:srgbClr val="FFFFFF"/>
                </a:solidFill>
                <a:latin typeface="Calibri"/>
              </a:rPr>
              <a:t>tests unitaires</a:t>
            </a:r>
          </a:p>
        </p:txBody>
      </p:sp>
      <p:sp>
        <p:nvSpPr>
          <p:cNvPr id="9" name="TextBox 8"/>
          <p:cNvSpPr txBox="1"/>
          <p:nvPr/>
        </p:nvSpPr>
        <p:spPr>
          <a:xfrm>
            <a:off x="457200" y="4754880"/>
            <a:ext cx="3657600" cy="548640"/>
          </a:xfrm>
          <a:prstGeom prst="rect">
            <a:avLst/>
          </a:prstGeom>
          <a:noFill/>
        </p:spPr>
        <p:txBody>
          <a:bodyPr wrap="square" lIns="60000" rIns="60000" tIns="40000" bIns="40000" anchor="t">
            <a:spAutoFit/>
          </a:bodyPr>
          <a:lstStyle/>
          <a:p>
            <a:pPr algn="ctr"/>
            <a:r>
              <a:rPr sz="1600" b="0">
                <a:solidFill>
                  <a:srgbClr val="FFEDD5"/>
                </a:solidFill>
                <a:latin typeface="Calibri"/>
              </a:rPr>
              <a:t>pytest</a:t>
            </a:r>
          </a:p>
        </p:txBody>
      </p:sp>
      <p:sp>
        <p:nvSpPr>
          <p:cNvPr id="10" name="TextBox 9"/>
          <p:cNvSpPr txBox="1"/>
          <p:nvPr/>
        </p:nvSpPr>
        <p:spPr>
          <a:xfrm>
            <a:off x="457200" y="5394960"/>
            <a:ext cx="3657600" cy="548640"/>
          </a:xfrm>
          <a:prstGeom prst="rect">
            <a:avLst/>
          </a:prstGeom>
          <a:noFill/>
        </p:spPr>
        <p:txBody>
          <a:bodyPr wrap="square" lIns="60000" rIns="60000" tIns="40000" bIns="40000" anchor="t">
            <a:spAutoFit/>
          </a:bodyPr>
          <a:lstStyle/>
          <a:p>
            <a:pPr algn="ctr"/>
            <a:r>
              <a:rPr sz="1400" b="0">
                <a:solidFill>
                  <a:srgbClr val="DBEAFE"/>
                </a:solidFill>
                <a:latin typeface="Calibri"/>
              </a:rPr>
              <a:t>&gt; exigence sujet (3)</a:t>
            </a:r>
          </a:p>
        </p:txBody>
      </p:sp>
      <p:sp>
        <p:nvSpPr>
          <p:cNvPr id="11" name="Rounded Rectangle 10"/>
          <p:cNvSpPr/>
          <p:nvPr/>
        </p:nvSpPr>
        <p:spPr>
          <a:xfrm>
            <a:off x="4389120" y="1463040"/>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463040"/>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1</a:t>
            </a:r>
          </a:p>
        </p:txBody>
      </p:sp>
      <p:sp>
        <p:nvSpPr>
          <p:cNvPr id="13" name="Rounded Rectangle 12"/>
          <p:cNvSpPr/>
          <p:nvPr/>
        </p:nvSpPr>
        <p:spPr>
          <a:xfrm>
            <a:off x="4846320" y="1463040"/>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508760"/>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Validation des prix</a:t>
            </a:r>
          </a:p>
        </p:txBody>
      </p:sp>
      <p:sp>
        <p:nvSpPr>
          <p:cNvPr id="15" name="TextBox 14"/>
          <p:cNvSpPr txBox="1"/>
          <p:nvPr/>
        </p:nvSpPr>
        <p:spPr>
          <a:xfrm>
            <a:off x="5029200" y="1810512"/>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Aberrants, négatifs, None, zéro, hors bornes catégorie</a:t>
            </a:r>
          </a:p>
        </p:txBody>
      </p:sp>
      <p:sp>
        <p:nvSpPr>
          <p:cNvPr id="16" name="Rounded Rectangle 15"/>
          <p:cNvSpPr/>
          <p:nvPr/>
        </p:nvSpPr>
        <p:spPr>
          <a:xfrm>
            <a:off x="4389120" y="2267712"/>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267712"/>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2</a:t>
            </a:r>
          </a:p>
        </p:txBody>
      </p:sp>
      <p:sp>
        <p:nvSpPr>
          <p:cNvPr id="18" name="Rounded Rectangle 17"/>
          <p:cNvSpPr/>
          <p:nvPr/>
        </p:nvSpPr>
        <p:spPr>
          <a:xfrm>
            <a:off x="4846320" y="2267712"/>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2313432"/>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Extraction réductions</a:t>
            </a:r>
          </a:p>
        </p:txBody>
      </p:sp>
      <p:sp>
        <p:nvSpPr>
          <p:cNvPr id="20" name="TextBox 19"/>
          <p:cNvSpPr txBox="1"/>
          <p:nvPr/>
        </p:nvSpPr>
        <p:spPr>
          <a:xfrm>
            <a:off x="5029200" y="2615184"/>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Parsing des % depuis texte, cas manquants, cohérence old/new</a:t>
            </a:r>
          </a:p>
        </p:txBody>
      </p:sp>
      <p:sp>
        <p:nvSpPr>
          <p:cNvPr id="21" name="Rounded Rectangle 20"/>
          <p:cNvSpPr/>
          <p:nvPr/>
        </p:nvSpPr>
        <p:spPr>
          <a:xfrm>
            <a:off x="4389120" y="3072384"/>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3072384"/>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3</a:t>
            </a:r>
          </a:p>
        </p:txBody>
      </p:sp>
      <p:sp>
        <p:nvSpPr>
          <p:cNvPr id="23" name="Rounded Rectangle 22"/>
          <p:cNvSpPr/>
          <p:nvPr/>
        </p:nvSpPr>
        <p:spPr>
          <a:xfrm>
            <a:off x="4846320" y="3072384"/>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0" y="3118104"/>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Suppression doublons</a:t>
            </a:r>
          </a:p>
        </p:txBody>
      </p:sp>
      <p:sp>
        <p:nvSpPr>
          <p:cNvPr id="25" name="TextBox 24"/>
          <p:cNvSpPr txBox="1"/>
          <p:nvPr/>
        </p:nvSpPr>
        <p:spPr>
          <a:xfrm>
            <a:off x="5029200" y="3419856"/>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Par URL, par nom normalisé, conservation du plus récent</a:t>
            </a:r>
          </a:p>
        </p:txBody>
      </p:sp>
      <p:sp>
        <p:nvSpPr>
          <p:cNvPr id="26" name="Rounded Rectangle 25"/>
          <p:cNvSpPr/>
          <p:nvPr/>
        </p:nvSpPr>
        <p:spPr>
          <a:xfrm>
            <a:off x="4389120" y="3877056"/>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3877056"/>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4</a:t>
            </a:r>
          </a:p>
        </p:txBody>
      </p:sp>
      <p:sp>
        <p:nvSpPr>
          <p:cNvPr id="28" name="Rounded Rectangle 27"/>
          <p:cNvSpPr/>
          <p:nvPr/>
        </p:nvSpPr>
        <p:spPr>
          <a:xfrm>
            <a:off x="4846320" y="3877056"/>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3922776"/>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Classification catégories</a:t>
            </a:r>
          </a:p>
        </p:txBody>
      </p:sp>
      <p:sp>
        <p:nvSpPr>
          <p:cNvPr id="30" name="TextBox 29"/>
          <p:cNvSpPr txBox="1"/>
          <p:nvPr/>
        </p:nvSpPr>
        <p:spPr>
          <a:xfrm>
            <a:off x="5029200" y="4224528"/>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Mapping exact, fallback par mots-clés, cas inconnus</a:t>
            </a:r>
          </a:p>
        </p:txBody>
      </p:sp>
      <p:sp>
        <p:nvSpPr>
          <p:cNvPr id="31" name="Rounded Rectangle 30"/>
          <p:cNvSpPr/>
          <p:nvPr/>
        </p:nvSpPr>
        <p:spPr>
          <a:xfrm>
            <a:off x="4389120" y="4681728"/>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4681728"/>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5</a:t>
            </a:r>
          </a:p>
        </p:txBody>
      </p:sp>
      <p:sp>
        <p:nvSpPr>
          <p:cNvPr id="33" name="Rounded Rectangle 32"/>
          <p:cNvSpPr/>
          <p:nvPr/>
        </p:nvSpPr>
        <p:spPr>
          <a:xfrm>
            <a:off x="4846320" y="4681728"/>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4727448"/>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Pipeline complet</a:t>
            </a:r>
          </a:p>
        </p:txBody>
      </p:sp>
      <p:sp>
        <p:nvSpPr>
          <p:cNvPr id="35" name="TextBox 34"/>
          <p:cNvSpPr txBox="1"/>
          <p:nvPr/>
        </p:nvSpPr>
        <p:spPr>
          <a:xfrm>
            <a:off x="5029200" y="5029200"/>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Intégration scrape → clean → insert sur jeu réel</a:t>
            </a:r>
          </a:p>
        </p:txBody>
      </p:sp>
      <p:sp>
        <p:nvSpPr>
          <p:cNvPr id="36" name="Rounded Rectangle 35"/>
          <p:cNvSpPr/>
          <p:nvPr/>
        </p:nvSpPr>
        <p:spPr>
          <a:xfrm>
            <a:off x="4389120" y="5486400"/>
            <a:ext cx="365760" cy="685800"/>
          </a:xfrm>
          <a:prstGeom prst="round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0" y="5486400"/>
            <a:ext cx="365760" cy="685800"/>
          </a:xfrm>
          <a:prstGeom prst="rect">
            <a:avLst/>
          </a:prstGeom>
          <a:noFill/>
        </p:spPr>
        <p:txBody>
          <a:bodyPr wrap="square" lIns="60000" rIns="60000" tIns="40000" bIns="40000" anchor="ctr">
            <a:spAutoFit/>
          </a:bodyPr>
          <a:lstStyle/>
          <a:p>
            <a:pPr algn="ctr"/>
            <a:r>
              <a:rPr sz="1400" b="1">
                <a:solidFill>
                  <a:srgbClr val="FFFFFF"/>
                </a:solidFill>
                <a:latin typeface="Calibri"/>
              </a:rPr>
              <a:t>6</a:t>
            </a:r>
          </a:p>
        </p:txBody>
      </p:sp>
      <p:sp>
        <p:nvSpPr>
          <p:cNvPr id="38" name="Rounded Rectangle 37"/>
          <p:cNvSpPr/>
          <p:nvPr/>
        </p:nvSpPr>
        <p:spPr>
          <a:xfrm>
            <a:off x="4846320" y="5486400"/>
            <a:ext cx="6858000" cy="685800"/>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0" y="5532120"/>
            <a:ext cx="6583680" cy="320040"/>
          </a:xfrm>
          <a:prstGeom prst="rect">
            <a:avLst/>
          </a:prstGeom>
          <a:noFill/>
        </p:spPr>
        <p:txBody>
          <a:bodyPr wrap="square" lIns="60000" rIns="60000" tIns="40000" bIns="40000" anchor="t">
            <a:spAutoFit/>
          </a:bodyPr>
          <a:lstStyle/>
          <a:p>
            <a:pPr algn="l"/>
            <a:r>
              <a:rPr sz="1300" b="1">
                <a:solidFill>
                  <a:srgbClr val="1E3A8A"/>
                </a:solidFill>
                <a:latin typeface="Calibri"/>
              </a:rPr>
              <a:t>Cas limites</a:t>
            </a:r>
          </a:p>
        </p:txBody>
      </p:sp>
      <p:sp>
        <p:nvSpPr>
          <p:cNvPr id="40" name="TextBox 39"/>
          <p:cNvSpPr txBox="1"/>
          <p:nvPr/>
        </p:nvSpPr>
        <p:spPr>
          <a:xfrm>
            <a:off x="5029200" y="5833872"/>
            <a:ext cx="6583680" cy="320040"/>
          </a:xfrm>
          <a:prstGeom prst="rect">
            <a:avLst/>
          </a:prstGeom>
          <a:noFill/>
        </p:spPr>
        <p:txBody>
          <a:bodyPr wrap="square" lIns="60000" rIns="60000" tIns="40000" bIns="40000" anchor="t">
            <a:spAutoFit/>
          </a:bodyPr>
          <a:lstStyle/>
          <a:p>
            <a:pPr algn="l"/>
            <a:r>
              <a:rPr sz="1100" b="0">
                <a:solidFill>
                  <a:srgbClr val="333333"/>
                </a:solidFill>
                <a:latin typeface="Calibri"/>
              </a:rPr>
              <a:t>Données vides, encodages, valeurs NaN, types inattendus</a:t>
            </a:r>
          </a:p>
        </p:txBody>
      </p:sp>
      <p:sp>
        <p:nvSpPr>
          <p:cNvPr id="41" name="Rectangle 40"/>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43" name="TextBox 42"/>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Respect de l'éthique scraping</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Être conforme aux bonnes pratiques</a:t>
            </a:r>
          </a:p>
        </p:txBody>
      </p:sp>
      <p:sp>
        <p:nvSpPr>
          <p:cNvPr id="6" name="Rounded Rectangle 5"/>
          <p:cNvSpPr/>
          <p:nvPr/>
        </p:nvSpPr>
        <p:spPr>
          <a:xfrm>
            <a:off x="457200" y="14630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554480"/>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54480"/>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9" name="TextBox 8"/>
          <p:cNvSpPr txBox="1"/>
          <p:nvPr/>
        </p:nvSpPr>
        <p:spPr>
          <a:xfrm>
            <a:off x="1234440" y="1554480"/>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robots.txt</a:t>
            </a:r>
          </a:p>
        </p:txBody>
      </p:sp>
      <p:sp>
        <p:nvSpPr>
          <p:cNvPr id="10" name="TextBox 9"/>
          <p:cNvSpPr txBox="1"/>
          <p:nvPr/>
        </p:nvSpPr>
        <p:spPr>
          <a:xfrm>
            <a:off x="1234440" y="1965960"/>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Respecté. Pour Jumia qui n'expose pas de robots.txt standard, enforcement manuel via la configuration Scrapy.</a:t>
            </a:r>
          </a:p>
        </p:txBody>
      </p:sp>
      <p:sp>
        <p:nvSpPr>
          <p:cNvPr id="11" name="Rounded Rectangle 10"/>
          <p:cNvSpPr/>
          <p:nvPr/>
        </p:nvSpPr>
        <p:spPr>
          <a:xfrm>
            <a:off x="6217920" y="14630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59" y="1554480"/>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554480"/>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14" name="TextBox 13"/>
          <p:cNvSpPr txBox="1"/>
          <p:nvPr/>
        </p:nvSpPr>
        <p:spPr>
          <a:xfrm>
            <a:off x="6995159" y="1554480"/>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Délais entre requêtes</a:t>
            </a:r>
          </a:p>
        </p:txBody>
      </p:sp>
      <p:sp>
        <p:nvSpPr>
          <p:cNvPr id="15" name="TextBox 14"/>
          <p:cNvSpPr txBox="1"/>
          <p:nvPr/>
        </p:nvSpPr>
        <p:spPr>
          <a:xfrm>
            <a:off x="6995159" y="1965960"/>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DOWNLOAD_DELAY de 1 à 2 secondes + AUTOTHROTTLE adaptatif selon la charge du serveur.</a:t>
            </a:r>
          </a:p>
        </p:txBody>
      </p:sp>
      <p:sp>
        <p:nvSpPr>
          <p:cNvPr id="16" name="Rounded Rectangle 15"/>
          <p:cNvSpPr/>
          <p:nvPr/>
        </p:nvSpPr>
        <p:spPr>
          <a:xfrm>
            <a:off x="457200" y="30632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154680"/>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154680"/>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19" name="TextBox 18"/>
          <p:cNvSpPr txBox="1"/>
          <p:nvPr/>
        </p:nvSpPr>
        <p:spPr>
          <a:xfrm>
            <a:off x="1234440" y="3154680"/>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Volume limité</a:t>
            </a:r>
          </a:p>
        </p:txBody>
      </p:sp>
      <p:sp>
        <p:nvSpPr>
          <p:cNvPr id="20" name="TextBox 19"/>
          <p:cNvSpPr txBox="1"/>
          <p:nvPr/>
        </p:nvSpPr>
        <p:spPr>
          <a:xfrm>
            <a:off x="1234440" y="3566160"/>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CLOSESPIDER_ITEMCOUNT = 500 items par run, conforme à la limite du sujet.</a:t>
            </a:r>
          </a:p>
        </p:txBody>
      </p:sp>
      <p:sp>
        <p:nvSpPr>
          <p:cNvPr id="21" name="Rounded Rectangle 20"/>
          <p:cNvSpPr/>
          <p:nvPr/>
        </p:nvSpPr>
        <p:spPr>
          <a:xfrm>
            <a:off x="6217920" y="30632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59" y="3154680"/>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59" y="3154680"/>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24" name="TextBox 23"/>
          <p:cNvSpPr txBox="1"/>
          <p:nvPr/>
        </p:nvSpPr>
        <p:spPr>
          <a:xfrm>
            <a:off x="6995159" y="3154680"/>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User-Agent identifié</a:t>
            </a:r>
          </a:p>
        </p:txBody>
      </p:sp>
      <p:sp>
        <p:nvSpPr>
          <p:cNvPr id="25" name="TextBox 24"/>
          <p:cNvSpPr txBox="1"/>
          <p:nvPr/>
        </p:nvSpPr>
        <p:spPr>
          <a:xfrm>
            <a:off x="6995159" y="3566160"/>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Pas de spoofing malveillant. L'identité du bot est claire dans les logs des sites scrappés.</a:t>
            </a:r>
          </a:p>
        </p:txBody>
      </p:sp>
      <p:sp>
        <p:nvSpPr>
          <p:cNvPr id="26" name="Rounded Rectangle 25"/>
          <p:cNvSpPr/>
          <p:nvPr/>
        </p:nvSpPr>
        <p:spPr>
          <a:xfrm>
            <a:off x="457200" y="46634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4754879"/>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754879"/>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29" name="TextBox 28"/>
          <p:cNvSpPr txBox="1"/>
          <p:nvPr/>
        </p:nvSpPr>
        <p:spPr>
          <a:xfrm>
            <a:off x="1234440" y="4754879"/>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Heures de scraping</a:t>
            </a:r>
          </a:p>
        </p:txBody>
      </p:sp>
      <p:sp>
        <p:nvSpPr>
          <p:cNvPr id="30" name="TextBox 29"/>
          <p:cNvSpPr txBox="1"/>
          <p:nvPr/>
        </p:nvSpPr>
        <p:spPr>
          <a:xfrm>
            <a:off x="1234440" y="5166359"/>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Planification via Airflow en dehors des heures de pointe pour ne pas dégrader l'expérience utilisateur.</a:t>
            </a:r>
          </a:p>
        </p:txBody>
      </p:sp>
      <p:sp>
        <p:nvSpPr>
          <p:cNvPr id="31" name="Rounded Rectangle 30"/>
          <p:cNvSpPr/>
          <p:nvPr/>
        </p:nvSpPr>
        <p:spPr>
          <a:xfrm>
            <a:off x="6217920" y="4663440"/>
            <a:ext cx="5577840" cy="1463040"/>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09359" y="4754879"/>
            <a:ext cx="548640" cy="54864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59" y="4754879"/>
            <a:ext cx="548640" cy="548640"/>
          </a:xfrm>
          <a:prstGeom prst="rect">
            <a:avLst/>
          </a:prstGeom>
          <a:noFill/>
        </p:spPr>
        <p:txBody>
          <a:bodyPr wrap="square" lIns="60000" rIns="60000" tIns="40000" bIns="40000" anchor="ctr">
            <a:spAutoFit/>
          </a:bodyPr>
          <a:lstStyle/>
          <a:p>
            <a:pPr algn="ctr"/>
            <a:r>
              <a:rPr sz="2200" b="1">
                <a:solidFill>
                  <a:srgbClr val="FFFFFF"/>
                </a:solidFill>
                <a:latin typeface="Calibri"/>
              </a:rPr>
              <a:t>✓</a:t>
            </a:r>
          </a:p>
        </p:txBody>
      </p:sp>
      <p:sp>
        <p:nvSpPr>
          <p:cNvPr id="34" name="TextBox 33"/>
          <p:cNvSpPr txBox="1"/>
          <p:nvPr/>
        </p:nvSpPr>
        <p:spPr>
          <a:xfrm>
            <a:off x="6995159" y="4754879"/>
            <a:ext cx="4663440" cy="411480"/>
          </a:xfrm>
          <a:prstGeom prst="rect">
            <a:avLst/>
          </a:prstGeom>
          <a:noFill/>
        </p:spPr>
        <p:txBody>
          <a:bodyPr wrap="square" lIns="60000" rIns="60000" tIns="40000" bIns="40000" anchor="t">
            <a:spAutoFit/>
          </a:bodyPr>
          <a:lstStyle/>
          <a:p>
            <a:pPr algn="l"/>
            <a:r>
              <a:rPr sz="1400" b="1">
                <a:solidFill>
                  <a:srgbClr val="16A34A"/>
                </a:solidFill>
                <a:latin typeface="Calibri"/>
              </a:rPr>
              <a:t>Données publiques uniquement</a:t>
            </a:r>
          </a:p>
        </p:txBody>
      </p:sp>
      <p:sp>
        <p:nvSpPr>
          <p:cNvPr id="35" name="TextBox 34"/>
          <p:cNvSpPr txBox="1"/>
          <p:nvPr/>
        </p:nvSpPr>
        <p:spPr>
          <a:xfrm>
            <a:off x="6995159" y="5166359"/>
            <a:ext cx="4663440" cy="914400"/>
          </a:xfrm>
          <a:prstGeom prst="rect">
            <a:avLst/>
          </a:prstGeom>
          <a:noFill/>
        </p:spPr>
        <p:txBody>
          <a:bodyPr wrap="square" lIns="60000" rIns="60000" tIns="40000" bIns="40000" anchor="t">
            <a:spAutoFit/>
          </a:bodyPr>
          <a:lstStyle/>
          <a:p>
            <a:pPr algn="l"/>
            <a:r>
              <a:rPr sz="1100" b="0">
                <a:solidFill>
                  <a:srgbClr val="333333"/>
                </a:solidFill>
                <a:latin typeface="Calibri"/>
              </a:rPr>
              <a:t>Aucune donnée personnelle collectée. Uniquement catalogue produit accessible sans connexion.</a:t>
            </a:r>
          </a:p>
        </p:txBody>
      </p:sp>
      <p:sp>
        <p:nvSpPr>
          <p:cNvPr id="36" name="Rectangle 35"/>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38" name="TextBox 37"/>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Chiffres-clés du projet</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Résultats concrets en production</a:t>
            </a:r>
          </a:p>
        </p:txBody>
      </p:sp>
      <p:sp>
        <p:nvSpPr>
          <p:cNvPr id="6" name="Rounded Rectangle 5"/>
          <p:cNvSpPr/>
          <p:nvPr/>
        </p:nvSpPr>
        <p:spPr>
          <a:xfrm>
            <a:off x="274320" y="141732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50876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1 930</a:t>
            </a:r>
          </a:p>
        </p:txBody>
      </p:sp>
      <p:sp>
        <p:nvSpPr>
          <p:cNvPr id="8" name="TextBox 7"/>
          <p:cNvSpPr txBox="1"/>
          <p:nvPr/>
        </p:nvSpPr>
        <p:spPr>
          <a:xfrm>
            <a:off x="274320" y="242316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produits en base</a:t>
            </a:r>
          </a:p>
        </p:txBody>
      </p:sp>
      <p:sp>
        <p:nvSpPr>
          <p:cNvPr id="9" name="Rounded Rectangle 8"/>
          <p:cNvSpPr/>
          <p:nvPr/>
        </p:nvSpPr>
        <p:spPr>
          <a:xfrm>
            <a:off x="3246120" y="141732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150876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13 600</a:t>
            </a:r>
          </a:p>
        </p:txBody>
      </p:sp>
      <p:sp>
        <p:nvSpPr>
          <p:cNvPr id="11" name="TextBox 10"/>
          <p:cNvSpPr txBox="1"/>
          <p:nvPr/>
        </p:nvSpPr>
        <p:spPr>
          <a:xfrm>
            <a:off x="3246120" y="242316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snapshots de prix</a:t>
            </a:r>
          </a:p>
        </p:txBody>
      </p:sp>
      <p:sp>
        <p:nvSpPr>
          <p:cNvPr id="12" name="Rounded Rectangle 11"/>
          <p:cNvSpPr/>
          <p:nvPr/>
        </p:nvSpPr>
        <p:spPr>
          <a:xfrm>
            <a:off x="6217920" y="141732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50876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3</a:t>
            </a:r>
          </a:p>
        </p:txBody>
      </p:sp>
      <p:sp>
        <p:nvSpPr>
          <p:cNvPr id="14" name="TextBox 13"/>
          <p:cNvSpPr txBox="1"/>
          <p:nvPr/>
        </p:nvSpPr>
        <p:spPr>
          <a:xfrm>
            <a:off x="6217920" y="242316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sources scrappées</a:t>
            </a:r>
          </a:p>
        </p:txBody>
      </p:sp>
      <p:sp>
        <p:nvSpPr>
          <p:cNvPr id="15" name="Rounded Rectangle 14"/>
          <p:cNvSpPr/>
          <p:nvPr/>
        </p:nvSpPr>
        <p:spPr>
          <a:xfrm>
            <a:off x="9189720" y="141732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50876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24</a:t>
            </a:r>
          </a:p>
        </p:txBody>
      </p:sp>
      <p:sp>
        <p:nvSpPr>
          <p:cNvPr id="17" name="TextBox 16"/>
          <p:cNvSpPr txBox="1"/>
          <p:nvPr/>
        </p:nvSpPr>
        <p:spPr>
          <a:xfrm>
            <a:off x="9189720" y="242316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catégories couvertes</a:t>
            </a:r>
          </a:p>
        </p:txBody>
      </p:sp>
      <p:sp>
        <p:nvSpPr>
          <p:cNvPr id="18" name="Rounded Rectangle 17"/>
          <p:cNvSpPr/>
          <p:nvPr/>
        </p:nvSpPr>
        <p:spPr>
          <a:xfrm>
            <a:off x="274320" y="306324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15468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1 088</a:t>
            </a:r>
          </a:p>
        </p:txBody>
      </p:sp>
      <p:sp>
        <p:nvSpPr>
          <p:cNvPr id="20" name="TextBox 19"/>
          <p:cNvSpPr txBox="1"/>
          <p:nvPr/>
        </p:nvSpPr>
        <p:spPr>
          <a:xfrm>
            <a:off x="274320" y="406908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promos actives détectées</a:t>
            </a:r>
          </a:p>
        </p:txBody>
      </p:sp>
      <p:sp>
        <p:nvSpPr>
          <p:cNvPr id="21" name="Rounded Rectangle 20"/>
          <p:cNvSpPr/>
          <p:nvPr/>
        </p:nvSpPr>
        <p:spPr>
          <a:xfrm>
            <a:off x="3246120" y="306324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6120" y="315468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40 %</a:t>
            </a:r>
          </a:p>
        </p:txBody>
      </p:sp>
      <p:sp>
        <p:nvSpPr>
          <p:cNvPr id="23" name="TextBox 22"/>
          <p:cNvSpPr txBox="1"/>
          <p:nvPr/>
        </p:nvSpPr>
        <p:spPr>
          <a:xfrm>
            <a:off x="3246120" y="406908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réduction moyenne</a:t>
            </a:r>
          </a:p>
        </p:txBody>
      </p:sp>
      <p:sp>
        <p:nvSpPr>
          <p:cNvPr id="24" name="Rounded Rectangle 23"/>
          <p:cNvSpPr/>
          <p:nvPr/>
        </p:nvSpPr>
        <p:spPr>
          <a:xfrm>
            <a:off x="6217920" y="306324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315468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2 546</a:t>
            </a:r>
          </a:p>
        </p:txBody>
      </p:sp>
      <p:sp>
        <p:nvSpPr>
          <p:cNvPr id="26" name="TextBox 25"/>
          <p:cNvSpPr txBox="1"/>
          <p:nvPr/>
        </p:nvSpPr>
        <p:spPr>
          <a:xfrm>
            <a:off x="6217920" y="406908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requêtes API servies</a:t>
            </a:r>
          </a:p>
        </p:txBody>
      </p:sp>
      <p:sp>
        <p:nvSpPr>
          <p:cNvPr id="27" name="Rounded Rectangle 26"/>
          <p:cNvSpPr/>
          <p:nvPr/>
        </p:nvSpPr>
        <p:spPr>
          <a:xfrm>
            <a:off x="9189720" y="306324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15468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0</a:t>
            </a:r>
          </a:p>
        </p:txBody>
      </p:sp>
      <p:sp>
        <p:nvSpPr>
          <p:cNvPr id="29" name="TextBox 28"/>
          <p:cNvSpPr txBox="1"/>
          <p:nvPr/>
        </p:nvSpPr>
        <p:spPr>
          <a:xfrm>
            <a:off x="9189720" y="406908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erreur 5xx</a:t>
            </a:r>
          </a:p>
        </p:txBody>
      </p:sp>
      <p:sp>
        <p:nvSpPr>
          <p:cNvPr id="30" name="Rounded Rectangle 29"/>
          <p:cNvSpPr/>
          <p:nvPr/>
        </p:nvSpPr>
        <p:spPr>
          <a:xfrm>
            <a:off x="274320" y="470916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80060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42</a:t>
            </a:r>
          </a:p>
        </p:txBody>
      </p:sp>
      <p:sp>
        <p:nvSpPr>
          <p:cNvPr id="32" name="TextBox 31"/>
          <p:cNvSpPr txBox="1"/>
          <p:nvPr/>
        </p:nvSpPr>
        <p:spPr>
          <a:xfrm>
            <a:off x="274320" y="571500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tests pytest</a:t>
            </a:r>
          </a:p>
        </p:txBody>
      </p:sp>
      <p:sp>
        <p:nvSpPr>
          <p:cNvPr id="33" name="Rounded Rectangle 32"/>
          <p:cNvSpPr/>
          <p:nvPr/>
        </p:nvSpPr>
        <p:spPr>
          <a:xfrm>
            <a:off x="3246120" y="470916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480060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12</a:t>
            </a:r>
          </a:p>
        </p:txBody>
      </p:sp>
      <p:sp>
        <p:nvSpPr>
          <p:cNvPr id="35" name="TextBox 34"/>
          <p:cNvSpPr txBox="1"/>
          <p:nvPr/>
        </p:nvSpPr>
        <p:spPr>
          <a:xfrm>
            <a:off x="3246120" y="571500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services Docker</a:t>
            </a:r>
          </a:p>
        </p:txBody>
      </p:sp>
      <p:sp>
        <p:nvSpPr>
          <p:cNvPr id="36" name="Rounded Rectangle 35"/>
          <p:cNvSpPr/>
          <p:nvPr/>
        </p:nvSpPr>
        <p:spPr>
          <a:xfrm>
            <a:off x="6217920" y="470916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4800600"/>
            <a:ext cx="2834640" cy="914400"/>
          </a:xfrm>
          <a:prstGeom prst="rect">
            <a:avLst/>
          </a:prstGeom>
          <a:noFill/>
        </p:spPr>
        <p:txBody>
          <a:bodyPr wrap="square" lIns="60000" rIns="60000" tIns="40000" bIns="40000" anchor="ctr">
            <a:spAutoFit/>
          </a:bodyPr>
          <a:lstStyle/>
          <a:p>
            <a:pPr algn="ctr"/>
            <a:r>
              <a:rPr sz="4000" b="1">
                <a:solidFill>
                  <a:srgbClr val="F97316"/>
                </a:solidFill>
                <a:latin typeface="Calibri"/>
              </a:rPr>
              <a:t>5 000+</a:t>
            </a:r>
          </a:p>
        </p:txBody>
      </p:sp>
      <p:sp>
        <p:nvSpPr>
          <p:cNvPr id="38" name="TextBox 37"/>
          <p:cNvSpPr txBox="1"/>
          <p:nvPr/>
        </p:nvSpPr>
        <p:spPr>
          <a:xfrm>
            <a:off x="6217920" y="571500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lignes de code Python</a:t>
            </a:r>
          </a:p>
        </p:txBody>
      </p:sp>
      <p:sp>
        <p:nvSpPr>
          <p:cNvPr id="39" name="Rounded Rectangle 38"/>
          <p:cNvSpPr/>
          <p:nvPr/>
        </p:nvSpPr>
        <p:spPr>
          <a:xfrm>
            <a:off x="9189720" y="4709160"/>
            <a:ext cx="2834640" cy="1508760"/>
          </a:xfrm>
          <a:prstGeom prst="roundRect">
            <a:avLst/>
          </a:prstGeom>
          <a:solidFill>
            <a:srgbClr val="2D4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89720" y="4800600"/>
            <a:ext cx="2834640" cy="914400"/>
          </a:xfrm>
          <a:prstGeom prst="rect">
            <a:avLst/>
          </a:prstGeom>
          <a:noFill/>
        </p:spPr>
        <p:txBody>
          <a:bodyPr wrap="square" lIns="60000" rIns="60000" tIns="40000" bIns="40000" anchor="ctr">
            <a:spAutoFit/>
          </a:bodyPr>
          <a:lstStyle/>
          <a:p>
            <a:pPr algn="ctr"/>
            <a:r>
              <a:rPr sz="4000" b="1">
                <a:solidFill>
                  <a:srgbClr val="DBEAFE"/>
                </a:solidFill>
                <a:latin typeface="Calibri"/>
              </a:rPr>
              <a:t>8</a:t>
            </a:r>
          </a:p>
        </p:txBody>
      </p:sp>
      <p:sp>
        <p:nvSpPr>
          <p:cNvPr id="41" name="TextBox 40"/>
          <p:cNvSpPr txBox="1"/>
          <p:nvPr/>
        </p:nvSpPr>
        <p:spPr>
          <a:xfrm>
            <a:off x="9189720" y="5715000"/>
            <a:ext cx="2834640" cy="457200"/>
          </a:xfrm>
          <a:prstGeom prst="rect">
            <a:avLst/>
          </a:prstGeom>
          <a:noFill/>
        </p:spPr>
        <p:txBody>
          <a:bodyPr wrap="square" lIns="60000" rIns="60000" tIns="40000" bIns="40000" anchor="ctr">
            <a:spAutoFit/>
          </a:bodyPr>
          <a:lstStyle/>
          <a:p>
            <a:pPr algn="ctr"/>
            <a:r>
              <a:rPr sz="1200" b="0">
                <a:solidFill>
                  <a:srgbClr val="FFFFFF"/>
                </a:solidFill>
                <a:latin typeface="Calibri"/>
              </a:rPr>
              <a:t>tables PostgreSQL</a:t>
            </a:r>
          </a:p>
        </p:txBody>
      </p:sp>
      <p:sp>
        <p:nvSpPr>
          <p:cNvPr id="42" name="TextBox 41"/>
          <p:cNvSpPr txBox="1"/>
          <p:nvPr/>
        </p:nvSpPr>
        <p:spPr>
          <a:xfrm>
            <a:off x="457200" y="6565392"/>
            <a:ext cx="11247120" cy="274320"/>
          </a:xfrm>
          <a:prstGeom prst="rect">
            <a:avLst/>
          </a:prstGeom>
          <a:noFill/>
        </p:spPr>
        <p:txBody>
          <a:bodyPr wrap="square" lIns="60000" rIns="60000" tIns="40000" bIns="40000" anchor="t">
            <a:spAutoFit/>
          </a:bodyPr>
          <a:lstStyle/>
          <a:p>
            <a:pPr algn="ctr"/>
            <a:r>
              <a:rPr sz="1000" b="0">
                <a:solidFill>
                  <a:srgbClr val="DBEAFE"/>
                </a:solidFill>
                <a:latin typeface="Calibri"/>
              </a:rPr>
              <a:t>JumiaPrix CI — ENSEA AS Data Science                     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822960"/>
          </a:xfrm>
          <a:prstGeom prst="rect">
            <a:avLst/>
          </a:prstGeom>
          <a:noFill/>
        </p:spPr>
        <p:txBody>
          <a:bodyPr wrap="square" lIns="60000" rIns="60000" tIns="40000" bIns="40000" anchor="ctr">
            <a:spAutoFit/>
          </a:bodyPr>
          <a:lstStyle/>
          <a:p>
            <a:pPr algn="l"/>
            <a:r>
              <a:rPr sz="3200" b="1">
                <a:solidFill>
                  <a:srgbClr val="FFFFFF"/>
                </a:solidFill>
                <a:latin typeface="Calibri"/>
              </a:rPr>
              <a:t>Conclusion</a:t>
            </a:r>
          </a:p>
        </p:txBody>
      </p:sp>
      <p:sp>
        <p:nvSpPr>
          <p:cNvPr id="5" name="TextBox 4"/>
          <p:cNvSpPr txBox="1"/>
          <p:nvPr/>
        </p:nvSpPr>
        <p:spPr>
          <a:xfrm>
            <a:off x="457200" y="640080"/>
            <a:ext cx="11247120" cy="365760"/>
          </a:xfrm>
          <a:prstGeom prst="rect">
            <a:avLst/>
          </a:prstGeom>
          <a:noFill/>
        </p:spPr>
        <p:txBody>
          <a:bodyPr wrap="square" lIns="60000" rIns="60000" tIns="40000" bIns="40000" anchor="ctr">
            <a:spAutoFit/>
          </a:bodyPr>
          <a:lstStyle/>
          <a:p>
            <a:pPr algn="l"/>
            <a:r>
              <a:rPr sz="1400" b="0">
                <a:solidFill>
                  <a:srgbClr val="FFEDD5"/>
                </a:solidFill>
                <a:latin typeface="Calibri"/>
              </a:rPr>
              <a:t>Ce que j'ai construit et appris</a:t>
            </a:r>
          </a:p>
        </p:txBody>
      </p:sp>
      <p:sp>
        <p:nvSpPr>
          <p:cNvPr id="6" name="Rounded Rectangle 5"/>
          <p:cNvSpPr/>
          <p:nvPr/>
        </p:nvSpPr>
        <p:spPr>
          <a:xfrm>
            <a:off x="457200" y="1463040"/>
            <a:ext cx="5577840" cy="2377440"/>
          </a:xfrm>
          <a:prstGeom prst="round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5577840"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5577840" cy="457200"/>
          </a:xfrm>
          <a:prstGeom prst="rect">
            <a:avLst/>
          </a:prstGeom>
          <a:noFill/>
        </p:spPr>
        <p:txBody>
          <a:bodyPr wrap="square" lIns="60000" rIns="60000" tIns="40000" bIns="40000" anchor="ctr">
            <a:spAutoFit/>
          </a:bodyPr>
          <a:lstStyle/>
          <a:p>
            <a:pPr algn="ctr"/>
            <a:r>
              <a:rPr sz="1400" b="1">
                <a:solidFill>
                  <a:srgbClr val="FFFFFF"/>
                </a:solidFill>
                <a:latin typeface="Calibri"/>
              </a:rPr>
              <a:t>Compétences acquises</a:t>
            </a:r>
          </a:p>
        </p:txBody>
      </p:sp>
      <p:sp>
        <p:nvSpPr>
          <p:cNvPr id="9" name="TextBox 8"/>
          <p:cNvSpPr txBox="1"/>
          <p:nvPr/>
        </p:nvSpPr>
        <p:spPr>
          <a:xfrm>
            <a:off x="640080" y="2057400"/>
            <a:ext cx="5303520" cy="1737360"/>
          </a:xfrm>
          <a:prstGeom prst="rect">
            <a:avLst/>
          </a:prstGeom>
          <a:noFill/>
        </p:spPr>
        <p:txBody>
          <a:bodyPr wrap="square" lIns="80000">
            <a:spAutoFit/>
          </a:bodyPr>
          <a:lstStyle/>
          <a:p>
            <a:pPr algn="l">
              <a:spcAft>
                <a:spcPts val="800"/>
              </a:spcAft>
            </a:pPr>
            <a:r>
              <a:rPr sz="1200" b="0">
                <a:solidFill>
                  <a:srgbClr val="333333"/>
                </a:solidFill>
                <a:latin typeface="Calibri"/>
              </a:rPr>
              <a:t>•  Maîtrise de Scrapy et contournement Cloudflare</a:t>
            </a:r>
          </a:p>
          <a:p>
            <a:pPr algn="l">
              <a:spcAft>
                <a:spcPts val="800"/>
              </a:spcAft>
            </a:pPr>
            <a:r>
              <a:rPr sz="1200" b="0">
                <a:solidFill>
                  <a:srgbClr val="333333"/>
                </a:solidFill>
                <a:latin typeface="Calibri"/>
              </a:rPr>
              <a:t>•  Orchestration Airflow + Celery en production</a:t>
            </a:r>
          </a:p>
          <a:p>
            <a:pPr algn="l">
              <a:spcAft>
                <a:spcPts val="800"/>
              </a:spcAft>
            </a:pPr>
            <a:r>
              <a:rPr sz="1200" b="0">
                <a:solidFill>
                  <a:srgbClr val="333333"/>
                </a:solidFill>
                <a:latin typeface="Calibri"/>
              </a:rPr>
              <a:t>•  Conception DB relationnelle avancée (vues, triggers)</a:t>
            </a:r>
          </a:p>
          <a:p>
            <a:pPr algn="l">
              <a:spcAft>
                <a:spcPts val="800"/>
              </a:spcAft>
            </a:pPr>
            <a:r>
              <a:rPr sz="1200" b="0">
                <a:solidFill>
                  <a:srgbClr val="333333"/>
                </a:solidFill>
                <a:latin typeface="Calibri"/>
              </a:rPr>
              <a:t>•  API REST complète avec auth, tests, Swagger</a:t>
            </a:r>
          </a:p>
          <a:p>
            <a:pPr algn="l">
              <a:spcAft>
                <a:spcPts val="800"/>
              </a:spcAft>
            </a:pPr>
            <a:r>
              <a:rPr sz="1200" b="0">
                <a:solidFill>
                  <a:srgbClr val="333333"/>
                </a:solidFill>
                <a:latin typeface="Calibri"/>
              </a:rPr>
              <a:t>•  Intégration LLM avec prompt engineering</a:t>
            </a:r>
          </a:p>
          <a:p>
            <a:pPr algn="l">
              <a:spcAft>
                <a:spcPts val="800"/>
              </a:spcAft>
            </a:pPr>
            <a:r>
              <a:rPr sz="1200" b="0">
                <a:solidFill>
                  <a:srgbClr val="333333"/>
                </a:solidFill>
                <a:latin typeface="Calibri"/>
              </a:rPr>
              <a:t>•  DevOps : Docker, monitoring, CI/CD</a:t>
            </a:r>
          </a:p>
        </p:txBody>
      </p:sp>
      <p:sp>
        <p:nvSpPr>
          <p:cNvPr id="10" name="Rounded Rectangle 9"/>
          <p:cNvSpPr/>
          <p:nvPr/>
        </p:nvSpPr>
        <p:spPr>
          <a:xfrm>
            <a:off x="6217920" y="1463040"/>
            <a:ext cx="5486400" cy="2377440"/>
          </a:xfrm>
          <a:prstGeom prst="roundRect">
            <a:avLst/>
          </a:prstGeom>
          <a:solidFill>
            <a:srgbClr val="FFFFFF"/>
          </a:solidFill>
          <a:ln w="127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63040"/>
            <a:ext cx="548640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463040"/>
            <a:ext cx="5486400" cy="457200"/>
          </a:xfrm>
          <a:prstGeom prst="rect">
            <a:avLst/>
          </a:prstGeom>
          <a:noFill/>
        </p:spPr>
        <p:txBody>
          <a:bodyPr wrap="square" lIns="60000" rIns="60000" tIns="40000" bIns="40000" anchor="ctr">
            <a:spAutoFit/>
          </a:bodyPr>
          <a:lstStyle/>
          <a:p>
            <a:pPr algn="ctr"/>
            <a:r>
              <a:rPr sz="1400" b="1">
                <a:solidFill>
                  <a:srgbClr val="FFFFFF"/>
                </a:solidFill>
                <a:latin typeface="Calibri"/>
              </a:rPr>
              <a:t>Perspectives d'évolution</a:t>
            </a:r>
          </a:p>
        </p:txBody>
      </p:sp>
      <p:sp>
        <p:nvSpPr>
          <p:cNvPr id="13" name="TextBox 12"/>
          <p:cNvSpPr txBox="1"/>
          <p:nvPr/>
        </p:nvSpPr>
        <p:spPr>
          <a:xfrm>
            <a:off x="6400800" y="2057400"/>
            <a:ext cx="5212080" cy="1737360"/>
          </a:xfrm>
          <a:prstGeom prst="rect">
            <a:avLst/>
          </a:prstGeom>
          <a:noFill/>
        </p:spPr>
        <p:txBody>
          <a:bodyPr wrap="square" lIns="80000">
            <a:spAutoFit/>
          </a:bodyPr>
          <a:lstStyle/>
          <a:p>
            <a:pPr algn="l">
              <a:spcAft>
                <a:spcPts val="800"/>
              </a:spcAft>
            </a:pPr>
            <a:r>
              <a:rPr sz="1200" b="0">
                <a:solidFill>
                  <a:srgbClr val="333333"/>
                </a:solidFill>
                <a:latin typeface="Calibri"/>
              </a:rPr>
              <a:t>•  Ajouter d'autres sources (Afrimalin, Abidjan.net)</a:t>
            </a:r>
          </a:p>
          <a:p>
            <a:pPr algn="l">
              <a:spcAft>
                <a:spcPts val="800"/>
              </a:spcAft>
            </a:pPr>
            <a:r>
              <a:rPr sz="1200" b="0">
                <a:solidFill>
                  <a:srgbClr val="333333"/>
                </a:solidFill>
                <a:latin typeface="Calibri"/>
              </a:rPr>
              <a:t>•  Prédiction des baisses de prix (modèle ML)</a:t>
            </a:r>
          </a:p>
          <a:p>
            <a:pPr algn="l">
              <a:spcAft>
                <a:spcPts val="800"/>
              </a:spcAft>
            </a:pPr>
            <a:r>
              <a:rPr sz="1200" b="0">
                <a:solidFill>
                  <a:srgbClr val="333333"/>
                </a:solidFill>
                <a:latin typeface="Calibri"/>
              </a:rPr>
              <a:t>•  Application mobile Flutter</a:t>
            </a:r>
          </a:p>
          <a:p>
            <a:pPr algn="l">
              <a:spcAft>
                <a:spcPts val="800"/>
              </a:spcAft>
            </a:pPr>
            <a:r>
              <a:rPr sz="1200" b="0">
                <a:solidFill>
                  <a:srgbClr val="333333"/>
                </a:solidFill>
                <a:latin typeface="Calibri"/>
              </a:rPr>
              <a:t>•  Déploiement cloud (AWS ou Hetzner)</a:t>
            </a:r>
          </a:p>
          <a:p>
            <a:pPr algn="l">
              <a:spcAft>
                <a:spcPts val="800"/>
              </a:spcAft>
            </a:pPr>
            <a:r>
              <a:rPr sz="1200" b="0">
                <a:solidFill>
                  <a:srgbClr val="333333"/>
                </a:solidFill>
                <a:latin typeface="Calibri"/>
              </a:rPr>
              <a:t>•  Notifications push via WhatsApp API</a:t>
            </a:r>
          </a:p>
          <a:p>
            <a:pPr algn="l">
              <a:spcAft>
                <a:spcPts val="800"/>
              </a:spcAft>
            </a:pPr>
            <a:r>
              <a:rPr sz="1200" b="0">
                <a:solidFill>
                  <a:srgbClr val="333333"/>
                </a:solidFill>
                <a:latin typeface="Calibri"/>
              </a:rPr>
              <a:t>•  Extension Chrome pour comparer depuis Jumia</a:t>
            </a:r>
          </a:p>
        </p:txBody>
      </p:sp>
      <p:sp>
        <p:nvSpPr>
          <p:cNvPr id="14" name="Rectangle 13"/>
          <p:cNvSpPr/>
          <p:nvPr/>
        </p:nvSpPr>
        <p:spPr>
          <a:xfrm>
            <a:off x="0" y="4389120"/>
            <a:ext cx="12191695" cy="1874519"/>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4389120"/>
            <a:ext cx="12191695"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572000"/>
            <a:ext cx="11247120" cy="731520"/>
          </a:xfrm>
          <a:prstGeom prst="rect">
            <a:avLst/>
          </a:prstGeom>
          <a:noFill/>
        </p:spPr>
        <p:txBody>
          <a:bodyPr wrap="square" lIns="60000" rIns="60000" tIns="40000" bIns="40000" anchor="ctr">
            <a:spAutoFit/>
          </a:bodyPr>
          <a:lstStyle/>
          <a:p>
            <a:pPr algn="ctr"/>
            <a:r>
              <a:rPr sz="4000" b="1">
                <a:solidFill>
                  <a:srgbClr val="FFFFFF"/>
                </a:solidFill>
                <a:latin typeface="Calibri"/>
              </a:rPr>
              <a:t>Merci pour votre attention</a:t>
            </a:r>
          </a:p>
        </p:txBody>
      </p:sp>
      <p:sp>
        <p:nvSpPr>
          <p:cNvPr id="17" name="TextBox 16"/>
          <p:cNvSpPr txBox="1"/>
          <p:nvPr/>
        </p:nvSpPr>
        <p:spPr>
          <a:xfrm>
            <a:off x="457200" y="5349240"/>
            <a:ext cx="11247120" cy="365760"/>
          </a:xfrm>
          <a:prstGeom prst="rect">
            <a:avLst/>
          </a:prstGeom>
          <a:noFill/>
        </p:spPr>
        <p:txBody>
          <a:bodyPr wrap="square" lIns="60000" rIns="60000" tIns="40000" bIns="40000" anchor="t">
            <a:spAutoFit/>
          </a:bodyPr>
          <a:lstStyle/>
          <a:p>
            <a:pPr algn="ctr"/>
            <a:r>
              <a:rPr sz="1300" b="0">
                <a:solidFill>
                  <a:srgbClr val="FFEDD5"/>
                </a:solidFill>
                <a:latin typeface="Calibri"/>
              </a:rPr>
              <a:t>github.com/nathankindo008-dot/webscraping-pipeline-comparateur-prix</a:t>
            </a:r>
          </a:p>
        </p:txBody>
      </p:sp>
      <p:sp>
        <p:nvSpPr>
          <p:cNvPr id="18" name="TextBox 17"/>
          <p:cNvSpPr txBox="1"/>
          <p:nvPr/>
        </p:nvSpPr>
        <p:spPr>
          <a:xfrm>
            <a:off x="457200" y="5715000"/>
            <a:ext cx="11247120" cy="365760"/>
          </a:xfrm>
          <a:prstGeom prst="rect">
            <a:avLst/>
          </a:prstGeom>
          <a:noFill/>
        </p:spPr>
        <p:txBody>
          <a:bodyPr wrap="square" lIns="60000" rIns="60000" tIns="40000" bIns="40000" anchor="t">
            <a:spAutoFit/>
          </a:bodyPr>
          <a:lstStyle/>
          <a:p>
            <a:pPr algn="ctr"/>
            <a:r>
              <a:rPr sz="1800" b="1">
                <a:solidFill>
                  <a:srgbClr val="F97316"/>
                </a:solidFill>
                <a:latin typeface="Calibri"/>
              </a:rPr>
              <a:t>Des questions ?</a:t>
            </a:r>
          </a:p>
        </p:txBody>
      </p:sp>
      <p:sp>
        <p:nvSpPr>
          <p:cNvPr id="19" name="Rectangle 18"/>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5486400" cy="274320"/>
          </a:xfrm>
          <a:prstGeom prst="rect">
            <a:avLst/>
          </a:prstGeom>
          <a:noFill/>
        </p:spPr>
        <p:txBody>
          <a:bodyPr wrap="square" lIns="60000" rIns="60000" tIns="40000" bIns="40000" anchor="t">
            <a:spAutoFit/>
          </a:bodyPr>
          <a:lstStyle/>
          <a:p>
            <a:pPr algn="l"/>
            <a:r>
              <a:rPr sz="1000" b="0">
                <a:solidFill>
                  <a:srgbClr val="9CA3AF"/>
                </a:solidFill>
                <a:latin typeface="Calibri"/>
              </a:rPr>
              <a:t>JumiaPrix CI — ENSEA AS Data Science</a:t>
            </a:r>
          </a:p>
        </p:txBody>
      </p:sp>
      <p:sp>
        <p:nvSpPr>
          <p:cNvPr id="21" name="TextBox 20"/>
          <p:cNvSpPr txBox="1"/>
          <p:nvPr/>
        </p:nvSpPr>
        <p:spPr>
          <a:xfrm>
            <a:off x="10058400" y="6565392"/>
            <a:ext cx="1737360" cy="274320"/>
          </a:xfrm>
          <a:prstGeom prst="rect">
            <a:avLst/>
          </a:prstGeom>
          <a:noFill/>
        </p:spPr>
        <p:txBody>
          <a:bodyPr wrap="square" lIns="60000" rIns="60000" tIns="40000" bIns="40000" anchor="t">
            <a:spAutoFit/>
          </a:bodyPr>
          <a:lstStyle/>
          <a:p>
            <a:pPr algn="r"/>
            <a:r>
              <a:rPr sz="1000" b="0">
                <a:solidFill>
                  <a:srgbClr val="9CA3AF"/>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